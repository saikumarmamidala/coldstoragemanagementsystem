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Default Extension="wdp" ContentType="image/vnd.ms-photo"/>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9"/>
  </p:notesMasterIdLst>
  <p:handoutMasterIdLst>
    <p:handoutMasterId r:id="rId60"/>
  </p:handoutMasterIdLst>
  <p:sldIdLst>
    <p:sldId id="256" r:id="rId5"/>
    <p:sldId id="257" r:id="rId6"/>
    <p:sldId id="269" r:id="rId7"/>
    <p:sldId id="270" r:id="rId8"/>
    <p:sldId id="271" r:id="rId9"/>
    <p:sldId id="272" r:id="rId10"/>
    <p:sldId id="273" r:id="rId11"/>
    <p:sldId id="274" r:id="rId12"/>
    <p:sldId id="275" r:id="rId13"/>
    <p:sldId id="276" r:id="rId14"/>
    <p:sldId id="281" r:id="rId15"/>
    <p:sldId id="282" r:id="rId16"/>
    <p:sldId id="283" r:id="rId17"/>
    <p:sldId id="277" r:id="rId18"/>
    <p:sldId id="278" r:id="rId19"/>
    <p:sldId id="279" r:id="rId20"/>
    <p:sldId id="280" r:id="rId21"/>
    <p:sldId id="284" r:id="rId22"/>
    <p:sldId id="303" r:id="rId23"/>
    <p:sldId id="301" r:id="rId24"/>
    <p:sldId id="302" r:id="rId25"/>
    <p:sldId id="285" r:id="rId26"/>
    <p:sldId id="286" r:id="rId27"/>
    <p:sldId id="287" r:id="rId28"/>
    <p:sldId id="288" r:id="rId29"/>
    <p:sldId id="289" r:id="rId30"/>
    <p:sldId id="291" r:id="rId31"/>
    <p:sldId id="296" r:id="rId32"/>
    <p:sldId id="290" r:id="rId33"/>
    <p:sldId id="297" r:id="rId34"/>
    <p:sldId id="292" r:id="rId35"/>
    <p:sldId id="298" r:id="rId36"/>
    <p:sldId id="293" r:id="rId37"/>
    <p:sldId id="299" r:id="rId38"/>
    <p:sldId id="294" r:id="rId39"/>
    <p:sldId id="300" r:id="rId40"/>
    <p:sldId id="295" r:id="rId41"/>
    <p:sldId id="306" r:id="rId42"/>
    <p:sldId id="307" r:id="rId43"/>
    <p:sldId id="308" r:id="rId44"/>
    <p:sldId id="304" r:id="rId45"/>
    <p:sldId id="305" r:id="rId46"/>
    <p:sldId id="309" r:id="rId47"/>
    <p:sldId id="310" r:id="rId48"/>
    <p:sldId id="311" r:id="rId49"/>
    <p:sldId id="312" r:id="rId50"/>
    <p:sldId id="313" r:id="rId51"/>
    <p:sldId id="314" r:id="rId52"/>
    <p:sldId id="321" r:id="rId53"/>
    <p:sldId id="315" r:id="rId54"/>
    <p:sldId id="319" r:id="rId55"/>
    <p:sldId id="320" r:id="rId56"/>
    <p:sldId id="316" r:id="rId57"/>
    <p:sldId id="317"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5" autoAdjust="0"/>
    <p:restoredTop sz="94660"/>
  </p:normalViewPr>
  <p:slideViewPr>
    <p:cSldViewPr snapToGrid="0" showGuides="1">
      <p:cViewPr varScale="1">
        <p:scale>
          <a:sx n="90" d="100"/>
          <a:sy n="90" d="100"/>
        </p:scale>
        <p:origin x="-398" y="-67"/>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pPr/>
              <a:t>1/28/2021</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pPr/>
              <a:t>‹#›</a:t>
            </a:fld>
            <a:endParaRPr/>
          </a:p>
        </p:txBody>
      </p:sp>
    </p:spTree>
    <p:extLst>
      <p:ext uri="{BB962C8B-B14F-4D97-AF65-F5344CB8AC3E}">
        <p14:creationId xmlns:p14="http://schemas.microsoft.com/office/powerpoint/2010/main" xmlns=""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pPr/>
              <a:t>1/28/2021</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pPr/>
              <a:t>‹#›</a:t>
            </a:fld>
            <a:endParaRPr/>
          </a:p>
        </p:txBody>
      </p:sp>
    </p:spTree>
    <p:extLst>
      <p:ext uri="{BB962C8B-B14F-4D97-AF65-F5344CB8AC3E}">
        <p14:creationId xmlns:p14="http://schemas.microsoft.com/office/powerpoint/2010/main" xmlns=""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pPr/>
              <a:t>1</a:t>
            </a:fld>
            <a:endParaRPr lang="en-US"/>
          </a:p>
        </p:txBody>
      </p:sp>
    </p:spTree>
    <p:extLst>
      <p:ext uri="{BB962C8B-B14F-4D97-AF65-F5344CB8AC3E}">
        <p14:creationId xmlns:p14="http://schemas.microsoft.com/office/powerpoint/2010/main" xmlns="" val="240615026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xmlns="">
                  <a14:imgLayer r:embed="rId3">
                    <a14:imgEffect>
                      <a14:saturation sat="30000"/>
                    </a14:imgEffect>
                  </a14:imgLayer>
                </a14:imgProps>
              </a:ext>
              <a:ext uri="{28A0092B-C50C-407E-A947-70E740481C1C}">
                <a14:useLocalDpi xmlns:a14="http://schemas.microsoft.com/office/drawing/2010/main" xmlns=""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1/28/2021</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xmlns="" val="165975651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1/28/2021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xmlns="" val="378687682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xmlns="">
                  <a14:imgLayer r:embed="rId3">
                    <a14:imgEffect>
                      <a14:saturation sat="30000"/>
                    </a14:imgEffect>
                  </a14:imgLayer>
                </a14:imgProps>
              </a:ext>
              <a:ext uri="{28A0092B-C50C-407E-A947-70E740481C1C}">
                <a14:useLocalDpi xmlns:a14="http://schemas.microsoft.com/office/drawing/2010/main" xmlns=""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xmlns="" val="267394360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xmlns=""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pPr/>
              <a:t>1/28/2021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xmlns="" val="360267880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pPr/>
              <a:t>1/28/2021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xmlns="" val="35277910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pPr/>
              <a:t>1/28/2021</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xmlns="" val="397101610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pPr/>
              <a:t>1/28/2021</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xmlns="" val="175811152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pPr/>
              <a:t>1/28/2021</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xmlns="" val="30241692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pPr/>
              <a:t>1/28/2021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xmlns="" val="37697646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pPr/>
              <a:t>1/28/2021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xmlns="" val="76963709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1/28/2021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xmlns="" val="201207670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1/28/2021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xmlns="" val="44592712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1/28/2021</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xmlns=""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586654" y="1430447"/>
            <a:ext cx="5734050" cy="626952"/>
          </a:xfrm>
        </p:spPr>
        <p:txBody>
          <a:bodyPr anchor="ctr">
            <a:normAutofit fontScale="90000"/>
          </a:bodyPr>
          <a:lstStyle/>
          <a:p>
            <a:r>
              <a:rPr lang="en-US" dirty="0"/>
              <a:t/>
            </a:r>
            <a:br>
              <a:rPr lang="en-US" dirty="0"/>
            </a:br>
            <a:r>
              <a:rPr lang="en-US" dirty="0"/>
              <a:t/>
            </a:r>
            <a:br>
              <a:rPr lang="en-US" dirty="0"/>
            </a:br>
            <a:r>
              <a:rPr lang="en-US" sz="4000" dirty="0"/>
              <a:t>Cold Storage Management System</a:t>
            </a:r>
          </a:p>
        </p:txBody>
      </p:sp>
      <p:sp>
        <p:nvSpPr>
          <p:cNvPr id="7" name="Subtitle 6"/>
          <p:cNvSpPr>
            <a:spLocks noGrp="1"/>
          </p:cNvSpPr>
          <p:nvPr>
            <p:ph type="subTitle" idx="1"/>
          </p:nvPr>
        </p:nvSpPr>
        <p:spPr>
          <a:xfrm>
            <a:off x="6677770" y="4584466"/>
            <a:ext cx="5734050" cy="952569"/>
          </a:xfrm>
        </p:spPr>
        <p:txBody>
          <a:bodyPr>
            <a:normAutofit fontScale="92500" lnSpcReduction="10000"/>
          </a:bodyPr>
          <a:lstStyle/>
          <a:p>
            <a:pPr algn="ctr" eaLnBrk="1" fontAlgn="auto" hangingPunct="1">
              <a:spcBef>
                <a:spcPts val="0"/>
              </a:spcBef>
              <a:spcAft>
                <a:spcPts val="0"/>
              </a:spcAft>
              <a:defRPr/>
            </a:pPr>
            <a:r>
              <a:rPr lang="en-US" sz="2400" b="1" dirty="0">
                <a:ln w="22225">
                  <a:solidFill>
                    <a:schemeClr val="accent2"/>
                  </a:solidFill>
                  <a:prstDash val="solid"/>
                </a:ln>
                <a:solidFill>
                  <a:schemeClr val="bg2">
                    <a:lumMod val="50000"/>
                  </a:schemeClr>
                </a:solidFill>
                <a:latin typeface="+mn-lt"/>
              </a:rPr>
              <a:t>GUIDANCE BY</a:t>
            </a:r>
          </a:p>
          <a:p>
            <a:pPr algn="ctr" eaLnBrk="1" fontAlgn="auto" hangingPunct="1">
              <a:spcBef>
                <a:spcPts val="0"/>
              </a:spcBef>
              <a:spcAft>
                <a:spcPts val="0"/>
              </a:spcAft>
              <a:defRPr/>
            </a:pPr>
            <a:r>
              <a:rPr lang="en-US" sz="2400" b="1" dirty="0">
                <a:ln w="22225">
                  <a:solidFill>
                    <a:schemeClr val="accent2"/>
                  </a:solidFill>
                  <a:prstDash val="solid"/>
                </a:ln>
                <a:solidFill>
                  <a:schemeClr val="bg2">
                    <a:lumMod val="50000"/>
                  </a:schemeClr>
                </a:solidFill>
              </a:rPr>
              <a:t>Dr. S. N. Tirumala Rao, </a:t>
            </a:r>
            <a:r>
              <a:rPr lang="en-US" sz="2400" b="1" dirty="0" err="1">
                <a:ln w="22225">
                  <a:solidFill>
                    <a:schemeClr val="accent2"/>
                  </a:solidFill>
                  <a:prstDash val="solid"/>
                </a:ln>
                <a:solidFill>
                  <a:schemeClr val="bg2">
                    <a:lumMod val="50000"/>
                  </a:schemeClr>
                </a:solidFill>
              </a:rPr>
              <a:t>M.Tech</a:t>
            </a:r>
            <a:r>
              <a:rPr lang="en-US" sz="2400" b="1" dirty="0">
                <a:ln w="22225">
                  <a:solidFill>
                    <a:schemeClr val="accent2"/>
                  </a:solidFill>
                  <a:prstDash val="solid"/>
                </a:ln>
                <a:solidFill>
                  <a:schemeClr val="bg2">
                    <a:lumMod val="50000"/>
                  </a:schemeClr>
                </a:solidFill>
              </a:rPr>
              <a:t>, </a:t>
            </a:r>
            <a:r>
              <a:rPr lang="en-US" sz="2400" b="1" dirty="0" err="1">
                <a:ln w="22225">
                  <a:solidFill>
                    <a:schemeClr val="accent2"/>
                  </a:solidFill>
                  <a:prstDash val="solid"/>
                </a:ln>
                <a:solidFill>
                  <a:schemeClr val="bg2">
                    <a:lumMod val="50000"/>
                  </a:schemeClr>
                </a:solidFill>
              </a:rPr>
              <a:t>Ph.D</a:t>
            </a:r>
            <a:endParaRPr lang="en-US" sz="2400" b="1" dirty="0">
              <a:ln w="22225">
                <a:solidFill>
                  <a:schemeClr val="accent2"/>
                </a:solidFill>
                <a:prstDash val="solid"/>
              </a:ln>
              <a:solidFill>
                <a:schemeClr val="bg2">
                  <a:lumMod val="50000"/>
                </a:schemeClr>
              </a:solidFill>
            </a:endParaRPr>
          </a:p>
          <a:p>
            <a:pPr algn="ctr" eaLnBrk="1" fontAlgn="auto" hangingPunct="1">
              <a:spcBef>
                <a:spcPts val="0"/>
              </a:spcBef>
              <a:spcAft>
                <a:spcPts val="0"/>
              </a:spcAft>
              <a:defRPr/>
            </a:pPr>
            <a:r>
              <a:rPr lang="en-US" sz="2000" b="1" dirty="0">
                <a:ln w="22225">
                  <a:solidFill>
                    <a:schemeClr val="accent2"/>
                  </a:solidFill>
                  <a:prstDash val="solid"/>
                </a:ln>
                <a:solidFill>
                  <a:schemeClr val="bg2">
                    <a:lumMod val="50000"/>
                  </a:schemeClr>
                </a:solidFill>
                <a:latin typeface="+mn-lt"/>
              </a:rPr>
              <a:t>Professor</a:t>
            </a:r>
          </a:p>
          <a:p>
            <a:endParaRPr lang="en-US" dirty="0"/>
          </a:p>
        </p:txBody>
      </p:sp>
      <p:pic>
        <p:nvPicPr>
          <p:cNvPr id="8" name="Picture Placeholder 7">
            <a:extLst>
              <a:ext uri="{FF2B5EF4-FFF2-40B4-BE49-F238E27FC236}">
                <a16:creationId xmlns:a16="http://schemas.microsoft.com/office/drawing/2014/main" xmlns="" id="{5CF5C55E-670F-46B2-A3B7-ABB6F38D8AFF}"/>
              </a:ext>
            </a:extLst>
          </p:cNvPr>
          <p:cNvPicPr>
            <a:picLocks noGrp="1" noChangeAspect="1"/>
          </p:cNvPicPr>
          <p:nvPr>
            <p:ph type="pic" sz="quarter" idx="13"/>
          </p:nvPr>
        </p:nvPicPr>
        <p:blipFill>
          <a:blip r:embed="rId3" cstate="print"/>
          <a:srcRect t="5658" b="5658"/>
          <a:stretch>
            <a:fillRect/>
          </a:stretch>
        </p:blipFill>
        <p:spPr>
          <a:xfrm>
            <a:off x="307700" y="2602823"/>
            <a:ext cx="4106037" cy="2320567"/>
          </a:xfrm>
          <a:prstGeom prst="rect">
            <a:avLst/>
          </a:prstGeom>
        </p:spPr>
      </p:pic>
      <p:sp>
        <p:nvSpPr>
          <p:cNvPr id="11" name="TextBox 10">
            <a:extLst>
              <a:ext uri="{FF2B5EF4-FFF2-40B4-BE49-F238E27FC236}">
                <a16:creationId xmlns:a16="http://schemas.microsoft.com/office/drawing/2014/main" xmlns="" id="{3BEE2F51-CE0E-40B3-8F44-A22B4DEC7216}"/>
              </a:ext>
            </a:extLst>
          </p:cNvPr>
          <p:cNvSpPr txBox="1"/>
          <p:nvPr/>
        </p:nvSpPr>
        <p:spPr>
          <a:xfrm>
            <a:off x="2571733" y="3014996"/>
            <a:ext cx="6115050" cy="2862322"/>
          </a:xfrm>
          <a:prstGeom prst="rect">
            <a:avLst/>
          </a:prstGeom>
          <a:noFill/>
        </p:spPr>
        <p:txBody>
          <a:bodyPr wrap="square">
            <a:spAutoFit/>
          </a:bodyPr>
          <a:lstStyle/>
          <a:p>
            <a:pPr algn="ctr" eaLnBrk="1" fontAlgn="auto" hangingPunct="1">
              <a:spcBef>
                <a:spcPts val="0"/>
              </a:spcBef>
              <a:spcAft>
                <a:spcPts val="0"/>
              </a:spcAft>
              <a:defRPr/>
            </a:pPr>
            <a:r>
              <a:rPr lang="en-US" sz="1800" b="1" spc="50" dirty="0">
                <a:ln w="9525" cmpd="sng">
                  <a:solidFill>
                    <a:schemeClr val="accent1"/>
                  </a:solidFill>
                  <a:prstDash val="solid"/>
                </a:ln>
                <a:solidFill>
                  <a:schemeClr val="tx1">
                    <a:lumMod val="85000"/>
                    <a:lumOff val="15000"/>
                  </a:schemeClr>
                </a:solidFill>
                <a:effectLst>
                  <a:glow rad="38100">
                    <a:schemeClr val="accent1">
                      <a:alpha val="40000"/>
                    </a:schemeClr>
                  </a:glow>
                </a:effectLst>
                <a:latin typeface="+mn-lt"/>
              </a:rPr>
              <a:t>Presented By:</a:t>
            </a:r>
          </a:p>
          <a:p>
            <a:pPr algn="ctr" eaLnBrk="1" fontAlgn="auto" hangingPunct="1">
              <a:spcBef>
                <a:spcPts val="0"/>
              </a:spcBef>
              <a:spcAft>
                <a:spcPts val="0"/>
              </a:spcAft>
              <a:defRPr/>
            </a:pPr>
            <a:r>
              <a:rPr lang="en-US" b="1" spc="50" dirty="0">
                <a:ln w="9525" cmpd="sng">
                  <a:solidFill>
                    <a:schemeClr val="accent1"/>
                  </a:solidFill>
                  <a:prstDash val="solid"/>
                </a:ln>
                <a:solidFill>
                  <a:schemeClr val="tx1">
                    <a:lumMod val="85000"/>
                    <a:lumOff val="15000"/>
                  </a:schemeClr>
                </a:solidFill>
                <a:effectLst>
                  <a:glow rad="38100">
                    <a:schemeClr val="accent1">
                      <a:alpha val="40000"/>
                    </a:schemeClr>
                  </a:glow>
                </a:effectLst>
              </a:rPr>
              <a:t>       M. Sai Kumar(18471A0530)</a:t>
            </a:r>
          </a:p>
          <a:p>
            <a:pPr algn="ctr">
              <a:defRPr/>
            </a:pPr>
            <a:r>
              <a:rPr lang="en-US" sz="1800" b="1" spc="50" dirty="0">
                <a:ln w="9525" cmpd="sng">
                  <a:solidFill>
                    <a:schemeClr val="accent1"/>
                  </a:solidFill>
                  <a:prstDash val="solid"/>
                </a:ln>
                <a:solidFill>
                  <a:schemeClr val="tx1">
                    <a:lumMod val="85000"/>
                    <a:lumOff val="15000"/>
                  </a:schemeClr>
                </a:solidFill>
                <a:effectLst>
                  <a:glow rad="38100">
                    <a:schemeClr val="accent1">
                      <a:alpha val="40000"/>
                    </a:schemeClr>
                  </a:glow>
                </a:effectLst>
                <a:latin typeface="+mn-lt"/>
              </a:rPr>
              <a:t>    N. Rajesh</a:t>
            </a:r>
            <a:r>
              <a:rPr lang="en-US" b="1" spc="50" dirty="0">
                <a:ln w="9525" cmpd="sng">
                  <a:solidFill>
                    <a:schemeClr val="accent1"/>
                  </a:solidFill>
                  <a:prstDash val="solid"/>
                </a:ln>
                <a:solidFill>
                  <a:schemeClr val="tx1">
                    <a:lumMod val="85000"/>
                    <a:lumOff val="15000"/>
                  </a:schemeClr>
                </a:solidFill>
                <a:effectLst>
                  <a:glow rad="38100">
                    <a:schemeClr val="accent1">
                      <a:alpha val="40000"/>
                    </a:schemeClr>
                  </a:glow>
                </a:effectLst>
              </a:rPr>
              <a:t>(18471A0535)</a:t>
            </a:r>
          </a:p>
          <a:p>
            <a:pPr algn="ctr">
              <a:defRPr/>
            </a:pPr>
            <a:r>
              <a:rPr lang="en-US" b="1" spc="50" dirty="0">
                <a:ln w="9525" cmpd="sng">
                  <a:solidFill>
                    <a:schemeClr val="accent1"/>
                  </a:solidFill>
                  <a:prstDash val="solid"/>
                </a:ln>
                <a:solidFill>
                  <a:schemeClr val="tx1">
                    <a:lumMod val="85000"/>
                    <a:lumOff val="15000"/>
                  </a:schemeClr>
                </a:solidFill>
                <a:effectLst>
                  <a:glow rad="38100">
                    <a:schemeClr val="accent1">
                      <a:alpha val="40000"/>
                    </a:schemeClr>
                  </a:glow>
                </a:effectLst>
              </a:rPr>
              <a:t>	K. S. V. S. Chandra Prasad</a:t>
            </a:r>
          </a:p>
          <a:p>
            <a:pPr algn="ctr">
              <a:defRPr/>
            </a:pPr>
            <a:r>
              <a:rPr lang="en-US" b="1" spc="50" dirty="0">
                <a:ln w="9525" cmpd="sng">
                  <a:solidFill>
                    <a:schemeClr val="accent1"/>
                  </a:solidFill>
                  <a:prstDash val="solid"/>
                </a:ln>
                <a:solidFill>
                  <a:schemeClr val="tx1">
                    <a:lumMod val="85000"/>
                    <a:lumOff val="15000"/>
                  </a:schemeClr>
                </a:solidFill>
                <a:effectLst>
                  <a:glow rad="38100">
                    <a:schemeClr val="accent1">
                      <a:alpha val="40000"/>
                    </a:schemeClr>
                  </a:glow>
                </a:effectLst>
              </a:rPr>
              <a:t>                    (18471A0521)</a:t>
            </a:r>
          </a:p>
          <a:p>
            <a:pPr algn="ctr" eaLnBrk="1" fontAlgn="auto" hangingPunct="1">
              <a:spcBef>
                <a:spcPts val="0"/>
              </a:spcBef>
              <a:spcAft>
                <a:spcPts val="0"/>
              </a:spcAft>
              <a:defRPr/>
            </a:pPr>
            <a:endParaRPr lang="en-US" sz="1800" b="1" spc="50" dirty="0">
              <a:ln w="9525" cmpd="sng">
                <a:solidFill>
                  <a:schemeClr val="accent1"/>
                </a:solidFill>
                <a:prstDash val="solid"/>
              </a:ln>
              <a:solidFill>
                <a:schemeClr val="tx1">
                  <a:lumMod val="85000"/>
                  <a:lumOff val="15000"/>
                </a:schemeClr>
              </a:solidFill>
              <a:effectLst>
                <a:glow rad="38100">
                  <a:schemeClr val="accent1">
                    <a:alpha val="40000"/>
                  </a:schemeClr>
                </a:glow>
              </a:effectLst>
              <a:latin typeface="+mn-lt"/>
            </a:endParaRPr>
          </a:p>
          <a:p>
            <a:pPr algn="ctr" eaLnBrk="1" fontAlgn="auto" hangingPunct="1">
              <a:spcBef>
                <a:spcPts val="0"/>
              </a:spcBef>
              <a:spcAft>
                <a:spcPts val="0"/>
              </a:spcAft>
              <a:defRPr/>
            </a:pPr>
            <a:endParaRPr lang="en-US" sz="1800" b="1" spc="50" dirty="0">
              <a:ln w="9525" cmpd="sng">
                <a:solidFill>
                  <a:schemeClr val="accent1"/>
                </a:solidFill>
                <a:prstDash val="solid"/>
              </a:ln>
              <a:solidFill>
                <a:schemeClr val="tx1">
                  <a:lumMod val="85000"/>
                  <a:lumOff val="15000"/>
                </a:schemeClr>
              </a:solidFill>
              <a:effectLst>
                <a:glow rad="38100">
                  <a:schemeClr val="accent1">
                    <a:alpha val="40000"/>
                  </a:schemeClr>
                </a:glow>
              </a:effectLst>
              <a:latin typeface="+mn-lt"/>
            </a:endParaRPr>
          </a:p>
          <a:p>
            <a:pPr algn="ctr" eaLnBrk="1" fontAlgn="auto" hangingPunct="1">
              <a:spcBef>
                <a:spcPts val="0"/>
              </a:spcBef>
              <a:spcAft>
                <a:spcPts val="0"/>
              </a:spcAft>
              <a:defRPr/>
            </a:pPr>
            <a:endParaRPr lang="en-US" sz="5400" b="1" spc="50" dirty="0">
              <a:ln w="9525" cmpd="sng">
                <a:solidFill>
                  <a:schemeClr val="accent1"/>
                </a:solidFill>
                <a:prstDash val="solid"/>
              </a:ln>
              <a:solidFill>
                <a:schemeClr val="tx1">
                  <a:lumMod val="85000"/>
                  <a:lumOff val="15000"/>
                </a:schemeClr>
              </a:solidFill>
              <a:effectLst>
                <a:glow rad="38100">
                  <a:schemeClr val="accent1">
                    <a:alpha val="40000"/>
                  </a:schemeClr>
                </a:glow>
              </a:effectLst>
              <a:latin typeface="+mn-lt"/>
            </a:endParaRPr>
          </a:p>
        </p:txBody>
      </p:sp>
    </p:spTree>
    <p:extLst>
      <p:ext uri="{BB962C8B-B14F-4D97-AF65-F5344CB8AC3E}">
        <p14:creationId xmlns:p14="http://schemas.microsoft.com/office/powerpoint/2010/main" xmlns="" val="165213399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IN" altLang="en-US" b="1" u="sng" dirty="0">
                <a:latin typeface="Times New Roman" pitchFamily="18" charset="0"/>
                <a:cs typeface="Times New Roman" pitchFamily="18" charset="0"/>
              </a:rPr>
              <a:t>ABSTRACT:</a:t>
            </a:r>
            <a:endParaRPr lang="en-US" dirty="0">
              <a:latin typeface="Times New Roman" pitchFamily="18" charset="0"/>
              <a:cs typeface="Times New Roman" pitchFamily="18" charset="0"/>
            </a:endParaRPr>
          </a:p>
        </p:txBody>
      </p:sp>
      <p:sp>
        <p:nvSpPr>
          <p:cNvPr id="14" name="Content Placeholder 13"/>
          <p:cNvSpPr>
            <a:spLocks noGrp="1"/>
          </p:cNvSpPr>
          <p:nvPr>
            <p:ph idx="1"/>
          </p:nvPr>
        </p:nvSpPr>
        <p:spPr/>
        <p:txBody>
          <a:bodyPr>
            <a:normAutofit/>
          </a:bodyPr>
          <a:lstStyle/>
          <a:p>
            <a:pPr algn="just"/>
            <a:r>
              <a:rPr lang="en-US" sz="2400" dirty="0" smtClean="0">
                <a:latin typeface="Times New Roman" pitchFamily="18" charset="0"/>
                <a:cs typeface="Times New Roman" pitchFamily="18" charset="0"/>
              </a:rPr>
              <a:t>India </a:t>
            </a:r>
            <a:r>
              <a:rPr lang="en-US" sz="2400" dirty="0">
                <a:latin typeface="Times New Roman" pitchFamily="18" charset="0"/>
                <a:cs typeface="Times New Roman" pitchFamily="18" charset="0"/>
              </a:rPr>
              <a:t>is one of the largest producers of agricultural products having diverse agro-climate zones across the country with vast range of agricultural products.</a:t>
            </a:r>
          </a:p>
          <a:p>
            <a:pPr algn="just"/>
            <a:r>
              <a:rPr lang="en-US" sz="2400" dirty="0">
                <a:latin typeface="Times New Roman" pitchFamily="18" charset="0"/>
                <a:cs typeface="Times New Roman" pitchFamily="18" charset="0"/>
              </a:rPr>
              <a:t> The reprehensible storage results in high losses in grains, 30% of fruits and vegetables grown. During storage, quantitative as well as qualitative losses occur due to insects, rodents, and micro- organisms.</a:t>
            </a:r>
          </a:p>
          <a:p>
            <a:pPr algn="just"/>
            <a:r>
              <a:rPr lang="en-US" sz="2400" dirty="0">
                <a:latin typeface="Times New Roman" pitchFamily="18" charset="0"/>
                <a:cs typeface="Times New Roman" pitchFamily="18" charset="0"/>
              </a:rPr>
              <a:t> To address the issues of the above concern and maintain proper stock details off all type of qualitative and qualitative loss products including their costs, we propose Cold Storage Management System (CSMS) for cold storage.</a:t>
            </a:r>
          </a:p>
          <a:p>
            <a:pPr algn="just"/>
            <a:r>
              <a:rPr lang="en-US" sz="2400" dirty="0">
                <a:latin typeface="Times New Roman" pitchFamily="18" charset="0"/>
                <a:cs typeface="Times New Roman" pitchFamily="18" charset="0"/>
              </a:rPr>
              <a:t> Hence the product availability in cold storage with all necessary details of product are available by this mini project</a:t>
            </a:r>
          </a:p>
        </p:txBody>
      </p:sp>
    </p:spTree>
    <p:extLst>
      <p:ext uri="{BB962C8B-B14F-4D97-AF65-F5344CB8AC3E}">
        <p14:creationId xmlns:p14="http://schemas.microsoft.com/office/powerpoint/2010/main" xmlns="" val="165425530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84FFE1-C344-4EB4-B711-25A3DE02E2ED}"/>
              </a:ext>
            </a:extLst>
          </p:cNvPr>
          <p:cNvSpPr>
            <a:spLocks noGrp="1"/>
          </p:cNvSpPr>
          <p:nvPr>
            <p:ph type="title"/>
          </p:nvPr>
        </p:nvSpPr>
        <p:spPr/>
        <p:txBody>
          <a:bodyPr>
            <a:normAutofit fontScale="90000"/>
          </a:bodyPr>
          <a:lstStyle/>
          <a:p>
            <a:r>
              <a:rPr lang="en-US" altLang="en-US" sz="2800" b="1" u="sng" dirty="0">
                <a:latin typeface="Tahoma" pitchFamily="34" charset="0"/>
              </a:rPr>
              <a:t/>
            </a:r>
            <a:br>
              <a:rPr lang="en-US" altLang="en-US" sz="2800" b="1" u="sng" dirty="0">
                <a:latin typeface="Tahoma" pitchFamily="34" charset="0"/>
              </a:rPr>
            </a:br>
            <a:r>
              <a:rPr lang="en-US" altLang="en-US" sz="2800" b="1" u="sng" dirty="0">
                <a:latin typeface="Tahoma" pitchFamily="34" charset="0"/>
              </a:rPr>
              <a:t/>
            </a:r>
            <a:br>
              <a:rPr lang="en-US" altLang="en-US" sz="2800" b="1" u="sng" dirty="0">
                <a:latin typeface="Tahoma" pitchFamily="34" charset="0"/>
              </a:rPr>
            </a:br>
            <a:r>
              <a:rPr lang="en-US" altLang="en-US" sz="2800" b="1" u="sng" dirty="0">
                <a:latin typeface="Tahoma" pitchFamily="34" charset="0"/>
              </a:rPr>
              <a:t/>
            </a:r>
            <a:br>
              <a:rPr lang="en-US" altLang="en-US" sz="2800" b="1" u="sng" dirty="0">
                <a:latin typeface="Tahoma" pitchFamily="34" charset="0"/>
              </a:rPr>
            </a:br>
            <a:r>
              <a:rPr lang="en-US" altLang="en-US" sz="2800" b="1" u="sng" dirty="0">
                <a:latin typeface="Tahoma" pitchFamily="34" charset="0"/>
              </a:rPr>
              <a:t/>
            </a:r>
            <a:br>
              <a:rPr lang="en-US" altLang="en-US" sz="2800" b="1" u="sng" dirty="0">
                <a:latin typeface="Tahoma" pitchFamily="34" charset="0"/>
              </a:rPr>
            </a:br>
            <a:r>
              <a:rPr lang="en-US" altLang="en-US" sz="2800" b="1" u="sng" dirty="0">
                <a:latin typeface="Tahoma" pitchFamily="34" charset="0"/>
              </a:rPr>
              <a:t>EXISTING SYSTEM:</a:t>
            </a:r>
            <a:endParaRPr lang="en-IN" dirty="0"/>
          </a:p>
        </p:txBody>
      </p:sp>
      <p:sp>
        <p:nvSpPr>
          <p:cNvPr id="3" name="Content Placeholder 2">
            <a:extLst>
              <a:ext uri="{FF2B5EF4-FFF2-40B4-BE49-F238E27FC236}">
                <a16:creationId xmlns:a16="http://schemas.microsoft.com/office/drawing/2014/main" xmlns="" id="{98D82CED-034F-403C-ACEC-0A50E2417E4E}"/>
              </a:ext>
            </a:extLst>
          </p:cNvPr>
          <p:cNvSpPr>
            <a:spLocks noGrp="1"/>
          </p:cNvSpPr>
          <p:nvPr>
            <p:ph idx="1"/>
          </p:nvPr>
        </p:nvSpPr>
        <p:spPr/>
        <p:txBody>
          <a:bodyPr>
            <a:noAutofit/>
          </a:bodyPr>
          <a:lstStyle/>
          <a:p>
            <a:pPr algn="just"/>
            <a:r>
              <a:rPr lang="en-US" sz="2400" dirty="0">
                <a:latin typeface="Times New Roman" pitchFamily="18" charset="0"/>
                <a:cs typeface="Times New Roman" pitchFamily="18" charset="0"/>
              </a:rPr>
              <a:t>The Cold Store Management System is designed to be used where:- It is necessary to control stock both by pallet (or carton or container) and by stock type where the stock location needs to be controlled by the system.</a:t>
            </a:r>
          </a:p>
          <a:p>
            <a:pPr algn="just"/>
            <a:r>
              <a:rPr lang="en-US" sz="2400" dirty="0">
                <a:latin typeface="Times New Roman" pitchFamily="18" charset="0"/>
                <a:cs typeface="Times New Roman" pitchFamily="18" charset="0"/>
              </a:rPr>
              <a:t> It is important to be able to control stock by receipt date / date of manufacture / the sell by date.</a:t>
            </a:r>
          </a:p>
          <a:p>
            <a:pPr algn="just"/>
            <a:r>
              <a:rPr lang="en-US" sz="2400" dirty="0">
                <a:latin typeface="Times New Roman" pitchFamily="18" charset="0"/>
                <a:cs typeface="Times New Roman" pitchFamily="18" charset="0"/>
              </a:rPr>
              <a:t> This means that the oldest useable stock will always be issued first irrespective of its location in the Cold Store.</a:t>
            </a:r>
          </a:p>
          <a:p>
            <a:pPr algn="just"/>
            <a:r>
              <a:rPr lang="en-US" sz="2400" dirty="0">
                <a:latin typeface="Times New Roman" pitchFamily="18" charset="0"/>
                <a:cs typeface="Times New Roman" pitchFamily="18" charset="0"/>
              </a:rPr>
              <a:t> Stock is stored on behalf of third parties i.e. commercial Cold Stores. </a:t>
            </a:r>
          </a:p>
          <a:p>
            <a:pPr algn="just"/>
            <a:r>
              <a:rPr lang="en-US" sz="2400" dirty="0">
                <a:latin typeface="Times New Roman" pitchFamily="18" charset="0"/>
                <a:cs typeface="Times New Roman" pitchFamily="18" charset="0"/>
              </a:rPr>
              <a:t>This is all done with maintaining records manually in a log book or in a micro soft excel to generate bills and maintain the stock details</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xmlns="" val="259967747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E7E53D-4F47-4C1B-9C21-A779264AD1D5}"/>
              </a:ext>
            </a:extLst>
          </p:cNvPr>
          <p:cNvSpPr>
            <a:spLocks noGrp="1"/>
          </p:cNvSpPr>
          <p:nvPr>
            <p:ph type="title"/>
          </p:nvPr>
        </p:nvSpPr>
        <p:spPr>
          <a:xfrm>
            <a:off x="1104900" y="422030"/>
            <a:ext cx="9980682" cy="1096962"/>
          </a:xfrm>
        </p:spPr>
        <p:txBody>
          <a:bodyPr>
            <a:normAutofit fontScale="90000"/>
          </a:bodyPr>
          <a:lstStyle/>
          <a:p>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PROPOSED SYSTEM:</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PROPOSED SYSTEM:</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
            </a:r>
            <a:br>
              <a:rPr lang="en-US" altLang="en-US" sz="2800" b="1" u="sng" dirty="0">
                <a:latin typeface="Arial" charset="0"/>
              </a:rPr>
            </a:br>
            <a:r>
              <a:rPr lang="en-US" altLang="en-US" sz="2800" b="1" u="sng" dirty="0">
                <a:latin typeface="Arial" charset="0"/>
              </a:rPr>
              <a:t>PROPOSED SYSTEM:</a:t>
            </a:r>
            <a:br>
              <a:rPr lang="en-US" altLang="en-US" sz="2800" b="1" u="sng" dirty="0">
                <a:latin typeface="Arial" charset="0"/>
              </a:rPr>
            </a:br>
            <a:endParaRPr lang="en-IN" dirty="0"/>
          </a:p>
        </p:txBody>
      </p:sp>
      <p:sp>
        <p:nvSpPr>
          <p:cNvPr id="3" name="Content Placeholder 2">
            <a:extLst>
              <a:ext uri="{FF2B5EF4-FFF2-40B4-BE49-F238E27FC236}">
                <a16:creationId xmlns:a16="http://schemas.microsoft.com/office/drawing/2014/main" xmlns="" id="{80BA4BA2-CAF1-42A4-8208-A5C0946AB92A}"/>
              </a:ext>
            </a:extLst>
          </p:cNvPr>
          <p:cNvSpPr>
            <a:spLocks noGrp="1"/>
          </p:cNvSpPr>
          <p:nvPr>
            <p:ph idx="1"/>
          </p:nvPr>
        </p:nvSpPr>
        <p:spPr/>
        <p:txBody>
          <a:bodyPr/>
          <a:lstStyle/>
          <a:p>
            <a:r>
              <a:rPr lang="en-US" dirty="0"/>
              <a:t>All software projects start by identifying a clear objective or goal .</a:t>
            </a:r>
          </a:p>
          <a:p>
            <a:r>
              <a:rPr lang="en-US" dirty="0"/>
              <a:t>Major objective of this report is to analysis Design and Implementation of Cold storage Management System .</a:t>
            </a:r>
          </a:p>
          <a:p>
            <a:r>
              <a:rPr lang="en-US" dirty="0"/>
              <a:t> Looking at the problems posed by the existing system of Cold storage, the objective can be sum up as follows to develop a Cold storage Management System for efficiently and effectively store all information related to different payments, loan, operational advance etc. </a:t>
            </a:r>
          </a:p>
          <a:p>
            <a:r>
              <a:rPr lang="en-US" dirty="0"/>
              <a:t> Allow the Management to easily access that information as necessary. </a:t>
            </a:r>
          </a:p>
          <a:p>
            <a:r>
              <a:rPr lang="en-US" dirty="0"/>
              <a:t> Less Documentation and Faster working performance and thus saving times. </a:t>
            </a:r>
          </a:p>
          <a:p>
            <a:r>
              <a:rPr lang="en-US" dirty="0"/>
              <a:t> In a form the information is desired by the Management, in a quick and effective order so that decisions can be made for proper and optimal business operations.</a:t>
            </a:r>
            <a:endParaRPr lang="en-IN" dirty="0"/>
          </a:p>
        </p:txBody>
      </p:sp>
    </p:spTree>
    <p:extLst>
      <p:ext uri="{BB962C8B-B14F-4D97-AF65-F5344CB8AC3E}">
        <p14:creationId xmlns:p14="http://schemas.microsoft.com/office/powerpoint/2010/main" xmlns="" val="240127059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9A72DA-70F2-4EE0-A269-6EC05BDB2D5E}"/>
              </a:ext>
            </a:extLst>
          </p:cNvPr>
          <p:cNvSpPr>
            <a:spLocks noGrp="1"/>
          </p:cNvSpPr>
          <p:nvPr>
            <p:ph type="title"/>
          </p:nvPr>
        </p:nvSpPr>
        <p:spPr/>
        <p:txBody>
          <a:bodyPr>
            <a:normAutofit fontScale="90000"/>
          </a:bodyPr>
          <a:lstStyle/>
          <a:p>
            <a:r>
              <a:rPr lang="en-US" sz="2800" b="1" u="sng" dirty="0">
                <a:solidFill>
                  <a:schemeClr val="tx1"/>
                </a:solidFill>
                <a:latin typeface="Times New Roman"/>
                <a:cs typeface="Calibri Light"/>
              </a:rPr>
              <a:t/>
            </a:r>
            <a:br>
              <a:rPr lang="en-US" sz="2800" b="1" u="sng" dirty="0">
                <a:solidFill>
                  <a:schemeClr val="tx1"/>
                </a:solidFill>
                <a:latin typeface="Times New Roman"/>
                <a:cs typeface="Calibri Light"/>
              </a:rPr>
            </a:br>
            <a:r>
              <a:rPr lang="en-US" sz="2800" b="1" u="sng" dirty="0">
                <a:solidFill>
                  <a:schemeClr val="tx1"/>
                </a:solidFill>
                <a:latin typeface="Times New Roman"/>
                <a:cs typeface="Calibri Light"/>
              </a:rPr>
              <a:t/>
            </a:r>
            <a:br>
              <a:rPr lang="en-US" sz="2800" b="1" u="sng" dirty="0">
                <a:solidFill>
                  <a:schemeClr val="tx1"/>
                </a:solidFill>
                <a:latin typeface="Times New Roman"/>
                <a:cs typeface="Calibri Light"/>
              </a:rPr>
            </a:br>
            <a:r>
              <a:rPr lang="en-US" sz="2800" b="1" u="sng" dirty="0">
                <a:solidFill>
                  <a:schemeClr val="tx1"/>
                </a:solidFill>
                <a:latin typeface="Times New Roman"/>
                <a:cs typeface="Calibri Light"/>
              </a:rPr>
              <a:t/>
            </a:r>
            <a:br>
              <a:rPr lang="en-US" sz="2800" b="1" u="sng" dirty="0">
                <a:solidFill>
                  <a:schemeClr val="tx1"/>
                </a:solidFill>
                <a:latin typeface="Times New Roman"/>
                <a:cs typeface="Calibri Light"/>
              </a:rPr>
            </a:br>
            <a:r>
              <a:rPr lang="en-US" sz="2800" b="1" u="sng" dirty="0">
                <a:solidFill>
                  <a:schemeClr val="tx1"/>
                </a:solidFill>
                <a:latin typeface="Times New Roman"/>
                <a:cs typeface="Calibri Light"/>
              </a:rPr>
              <a:t/>
            </a:r>
            <a:br>
              <a:rPr lang="en-US" sz="2800" b="1" u="sng" dirty="0">
                <a:solidFill>
                  <a:schemeClr val="tx1"/>
                </a:solidFill>
                <a:latin typeface="Times New Roman"/>
                <a:cs typeface="Calibri Light"/>
              </a:rPr>
            </a:br>
            <a:r>
              <a:rPr lang="en-US" sz="2800" b="1" u="sng" dirty="0">
                <a:solidFill>
                  <a:schemeClr val="tx1"/>
                </a:solidFill>
                <a:latin typeface="Times New Roman"/>
                <a:cs typeface="Calibri Light"/>
              </a:rPr>
              <a:t/>
            </a:r>
            <a:br>
              <a:rPr lang="en-US" sz="2800" b="1" u="sng" dirty="0">
                <a:solidFill>
                  <a:schemeClr val="tx1"/>
                </a:solidFill>
                <a:latin typeface="Times New Roman"/>
                <a:cs typeface="Calibri Light"/>
              </a:rPr>
            </a:br>
            <a:r>
              <a:rPr lang="en-US" sz="2800" b="1" u="sng" dirty="0">
                <a:solidFill>
                  <a:schemeClr val="tx1"/>
                </a:solidFill>
                <a:latin typeface="Times New Roman"/>
                <a:cs typeface="Calibri Light"/>
              </a:rPr>
              <a:t/>
            </a:r>
            <a:br>
              <a:rPr lang="en-US" sz="2800" b="1" u="sng" dirty="0">
                <a:solidFill>
                  <a:schemeClr val="tx1"/>
                </a:solidFill>
                <a:latin typeface="Times New Roman"/>
                <a:cs typeface="Calibri Light"/>
              </a:rPr>
            </a:br>
            <a:r>
              <a:rPr lang="en-US" sz="2800" b="1" u="sng" dirty="0">
                <a:solidFill>
                  <a:schemeClr val="tx1"/>
                </a:solidFill>
                <a:latin typeface="Times New Roman"/>
                <a:cs typeface="Calibri Light"/>
              </a:rPr>
              <a:t/>
            </a:r>
            <a:br>
              <a:rPr lang="en-US" sz="2800" b="1" u="sng" dirty="0">
                <a:solidFill>
                  <a:schemeClr val="tx1"/>
                </a:solidFill>
                <a:latin typeface="Times New Roman"/>
                <a:cs typeface="Calibri Light"/>
              </a:rPr>
            </a:br>
            <a:r>
              <a:rPr lang="en-US" sz="2800" b="1" u="sng" dirty="0">
                <a:solidFill>
                  <a:schemeClr val="tx1"/>
                </a:solidFill>
                <a:latin typeface="Times New Roman"/>
                <a:cs typeface="Calibri Light"/>
              </a:rPr>
              <a:t/>
            </a:r>
            <a:br>
              <a:rPr lang="en-US" sz="2800" b="1" u="sng" dirty="0">
                <a:solidFill>
                  <a:schemeClr val="tx1"/>
                </a:solidFill>
                <a:latin typeface="Times New Roman"/>
                <a:cs typeface="Calibri Light"/>
              </a:rPr>
            </a:br>
            <a:r>
              <a:rPr lang="en-US" sz="2800" b="1" u="sng" dirty="0">
                <a:solidFill>
                  <a:schemeClr val="tx1"/>
                </a:solidFill>
                <a:latin typeface="Times New Roman"/>
                <a:cs typeface="Calibri Light"/>
              </a:rPr>
              <a:t/>
            </a:r>
            <a:br>
              <a:rPr lang="en-US" sz="2800" b="1" u="sng" dirty="0">
                <a:solidFill>
                  <a:schemeClr val="tx1"/>
                </a:solidFill>
                <a:latin typeface="Times New Roman"/>
                <a:cs typeface="Calibri Light"/>
              </a:rPr>
            </a:br>
            <a:r>
              <a:rPr lang="en-US" sz="2800" b="1" u="sng" dirty="0">
                <a:solidFill>
                  <a:schemeClr val="tx1"/>
                </a:solidFill>
                <a:latin typeface="Times New Roman"/>
                <a:cs typeface="Calibri Light"/>
              </a:rPr>
              <a:t/>
            </a:r>
            <a:br>
              <a:rPr lang="en-US" sz="2800" b="1" u="sng" dirty="0">
                <a:solidFill>
                  <a:schemeClr val="tx1"/>
                </a:solidFill>
                <a:latin typeface="Times New Roman"/>
                <a:cs typeface="Calibri Light"/>
              </a:rPr>
            </a:br>
            <a:r>
              <a:rPr lang="en-US" sz="2800" b="1" u="sng" dirty="0">
                <a:solidFill>
                  <a:schemeClr val="tx1"/>
                </a:solidFill>
                <a:latin typeface="Times New Roman"/>
                <a:cs typeface="Calibri Light"/>
              </a:rPr>
              <a:t>HARDWARE AND SOFTWARE REQUIREMENTS</a:t>
            </a:r>
            <a:r>
              <a:rPr lang="en-US" sz="2800" b="1" u="sng" dirty="0">
                <a:solidFill>
                  <a:schemeClr val="tx1"/>
                </a:solidFill>
                <a:latin typeface="Times New Roman"/>
                <a:cs typeface="Times New Roman"/>
              </a:rPr>
              <a:t/>
            </a:r>
            <a:br>
              <a:rPr lang="en-US" sz="2800" b="1" u="sng" dirty="0">
                <a:solidFill>
                  <a:schemeClr val="tx1"/>
                </a:solidFill>
                <a:latin typeface="Times New Roman"/>
                <a:cs typeface="Times New Roman"/>
              </a:rPr>
            </a:br>
            <a:endParaRPr lang="en-IN" dirty="0"/>
          </a:p>
        </p:txBody>
      </p:sp>
      <p:sp>
        <p:nvSpPr>
          <p:cNvPr id="3" name="Content Placeholder 2">
            <a:extLst>
              <a:ext uri="{FF2B5EF4-FFF2-40B4-BE49-F238E27FC236}">
                <a16:creationId xmlns:a16="http://schemas.microsoft.com/office/drawing/2014/main" xmlns="" id="{9038776C-3FE1-4DD9-90A9-9551BEBCDA64}"/>
              </a:ext>
            </a:extLst>
          </p:cNvPr>
          <p:cNvSpPr>
            <a:spLocks noGrp="1"/>
          </p:cNvSpPr>
          <p:nvPr>
            <p:ph idx="1"/>
          </p:nvPr>
        </p:nvSpPr>
        <p:spPr/>
        <p:txBody>
          <a:bodyPr>
            <a:normAutofit fontScale="25000" lnSpcReduction="20000"/>
          </a:bodyPr>
          <a:lstStyle/>
          <a:p>
            <a:pPr algn="l" eaLnBrk="1" hangingPunct="1">
              <a:defRPr/>
            </a:pPr>
            <a:r>
              <a:rPr lang="en-US" sz="7200" u="sng" dirty="0">
                <a:solidFill>
                  <a:srgbClr val="00B0F0"/>
                </a:solidFill>
                <a:latin typeface="Times New Roman"/>
                <a:cs typeface="Calibri"/>
              </a:rPr>
              <a:t>HARDWARE REQUIREMENTS</a:t>
            </a:r>
          </a:p>
          <a:p>
            <a:pPr algn="just" eaLnBrk="1" hangingPunct="1">
              <a:buFont typeface="Wingdings" panose="020B0604020202020204" pitchFamily="34" charset="0"/>
              <a:buChar char="v"/>
              <a:defRPr/>
            </a:pPr>
            <a:r>
              <a:rPr lang="en-US" sz="7200" dirty="0">
                <a:latin typeface="Times New Roman"/>
                <a:ea typeface="+mn-lt"/>
                <a:cs typeface="+mn-lt"/>
              </a:rPr>
              <a:t> Processor       :  Intel® Dual Core 2.0GHz minimum</a:t>
            </a:r>
          </a:p>
          <a:p>
            <a:pPr algn="just" eaLnBrk="1" hangingPunct="1">
              <a:buFont typeface="Wingdings" panose="020B0604020202020204" pitchFamily="34" charset="0"/>
              <a:buChar char="v"/>
              <a:defRPr/>
            </a:pPr>
            <a:r>
              <a:rPr lang="en-US" sz="7200" dirty="0">
                <a:latin typeface="Times New Roman"/>
                <a:ea typeface="+mn-lt"/>
                <a:cs typeface="+mn-lt"/>
              </a:rPr>
              <a:t> Hard Disk      :  20GB or more </a:t>
            </a:r>
          </a:p>
          <a:p>
            <a:pPr algn="just" eaLnBrk="1" hangingPunct="1">
              <a:buFont typeface="Wingdings" panose="020B0604020202020204" pitchFamily="34" charset="0"/>
              <a:buChar char="v"/>
              <a:defRPr/>
            </a:pPr>
            <a:r>
              <a:rPr lang="en-US" sz="7200" dirty="0">
                <a:latin typeface="Times New Roman"/>
                <a:cs typeface="Calibri" panose="020F0502020204030204"/>
              </a:rPr>
              <a:t> RAM	             :  1 GB or More</a:t>
            </a:r>
          </a:p>
          <a:p>
            <a:pPr algn="just" eaLnBrk="1" hangingPunct="1">
              <a:defRPr/>
            </a:pPr>
            <a:r>
              <a:rPr lang="en-US" sz="7200" dirty="0">
                <a:latin typeface="Times New Roman"/>
                <a:ea typeface="+mn-lt"/>
                <a:cs typeface="+mn-lt"/>
              </a:rPr>
              <a:t/>
            </a:r>
            <a:br>
              <a:rPr lang="en-US" sz="7200" dirty="0">
                <a:latin typeface="Times New Roman"/>
                <a:ea typeface="+mn-lt"/>
                <a:cs typeface="+mn-lt"/>
              </a:rPr>
            </a:br>
            <a:endParaRPr lang="en-US" sz="7200" dirty="0">
              <a:solidFill>
                <a:srgbClr val="000000"/>
              </a:solidFill>
              <a:latin typeface="Times New Roman"/>
              <a:ea typeface="+mn-lt"/>
              <a:cs typeface="+mn-lt"/>
            </a:endParaRPr>
          </a:p>
          <a:p>
            <a:pPr algn="just" eaLnBrk="1" hangingPunct="1">
              <a:defRPr/>
            </a:pPr>
            <a:r>
              <a:rPr lang="en-US" sz="7200" u="sng" dirty="0">
                <a:solidFill>
                  <a:srgbClr val="00B0F0"/>
                </a:solidFill>
                <a:latin typeface="Times New Roman"/>
                <a:ea typeface="+mn-lt"/>
                <a:cs typeface="+mn-lt"/>
              </a:rPr>
              <a:t>SOFTWARE REQUIREMENTS</a:t>
            </a:r>
          </a:p>
          <a:p>
            <a:pPr algn="just" eaLnBrk="1" hangingPunct="1">
              <a:buFont typeface="Wingdings" panose="020B0604020202020204" pitchFamily="34" charset="0"/>
              <a:buChar char="v"/>
              <a:defRPr/>
            </a:pPr>
            <a:r>
              <a:rPr lang="en-US" sz="7200" dirty="0">
                <a:latin typeface="Times New Roman"/>
                <a:ea typeface="+mn-lt"/>
                <a:cs typeface="Times New Roman"/>
              </a:rPr>
              <a:t>Operating System   :    Windows 2012 Server or later</a:t>
            </a:r>
          </a:p>
          <a:p>
            <a:pPr algn="just" eaLnBrk="1" hangingPunct="1">
              <a:buFont typeface="Wingdings" panose="020B0604020202020204" pitchFamily="34" charset="0"/>
              <a:buChar char="v"/>
              <a:defRPr/>
            </a:pPr>
            <a:r>
              <a:rPr lang="en-US" sz="7200" dirty="0">
                <a:latin typeface="Times New Roman"/>
                <a:ea typeface="+mn-lt"/>
                <a:cs typeface="Times New Roman"/>
              </a:rPr>
              <a:t>Language                :    .NET Framework 4.5 or later</a:t>
            </a:r>
          </a:p>
          <a:p>
            <a:pPr algn="just" eaLnBrk="1" hangingPunct="1">
              <a:buFont typeface="Wingdings" panose="020B0604020202020204" pitchFamily="34" charset="0"/>
              <a:buChar char="v"/>
              <a:defRPr/>
            </a:pPr>
            <a:r>
              <a:rPr lang="en-US" sz="7200" dirty="0">
                <a:latin typeface="Times New Roman"/>
                <a:ea typeface="+mn-lt"/>
                <a:cs typeface="Times New Roman"/>
              </a:rPr>
              <a:t>Database server      :    SQL server 2012 or later</a:t>
            </a:r>
          </a:p>
          <a:p>
            <a:pPr algn="just" eaLnBrk="1" hangingPunct="1">
              <a:buFont typeface="Wingdings" panose="020B0604020202020204" pitchFamily="34" charset="0"/>
              <a:buChar char="v"/>
              <a:defRPr/>
            </a:pPr>
            <a:r>
              <a:rPr lang="en-US" sz="7200" dirty="0">
                <a:latin typeface="Times New Roman"/>
                <a:ea typeface="+mn-lt"/>
                <a:cs typeface="Times New Roman"/>
              </a:rPr>
              <a:t>Web Server             :    IIS 8.0</a:t>
            </a:r>
          </a:p>
          <a:p>
            <a:pPr algn="just" eaLnBrk="1" hangingPunct="1">
              <a:buFont typeface="Wingdings" panose="020B0604020202020204" pitchFamily="34" charset="0"/>
              <a:buChar char="v"/>
              <a:defRPr/>
            </a:pPr>
            <a:r>
              <a:rPr lang="en-US" sz="7200" dirty="0">
                <a:latin typeface="Times New Roman"/>
                <a:ea typeface="+mn-lt"/>
                <a:cs typeface="Times New Roman"/>
              </a:rPr>
              <a:t>Browser                  :    Any latest browser like Google Chrome</a:t>
            </a:r>
          </a:p>
          <a:p>
            <a:pPr algn="just" eaLnBrk="1" hangingPunct="1">
              <a:defRPr/>
            </a:pPr>
            <a:endParaRPr lang="en-US" sz="2200" b="1" u="sng" dirty="0">
              <a:solidFill>
                <a:srgbClr val="548235"/>
              </a:solidFill>
              <a:latin typeface="Times New Roman"/>
              <a:ea typeface="+mn-lt"/>
              <a:cs typeface="+mn-lt"/>
            </a:endParaRPr>
          </a:p>
          <a:p>
            <a:pPr lvl="2" indent="0" eaLnBrk="1" hangingPunct="1">
              <a:buFont typeface="Wingdings" panose="05000000000000000000" pitchFamily="2" charset="2"/>
              <a:buNone/>
              <a:defRPr/>
            </a:pPr>
            <a:r>
              <a:rPr lang="en-US" sz="2200" dirty="0">
                <a:ea typeface="+mn-lt"/>
                <a:cs typeface="+mn-lt"/>
              </a:rPr>
              <a:t/>
            </a:r>
            <a:br>
              <a:rPr lang="en-US" sz="2200" dirty="0">
                <a:ea typeface="+mn-lt"/>
                <a:cs typeface="+mn-lt"/>
              </a:rPr>
            </a:br>
            <a:r>
              <a:rPr lang="en-US" sz="2200" dirty="0">
                <a:ea typeface="+mn-lt"/>
                <a:cs typeface="+mn-lt"/>
              </a:rPr>
              <a:t>  </a:t>
            </a:r>
            <a:endParaRPr lang="en-US" sz="2200" dirty="0">
              <a:cs typeface="Calibri" panose="020F0502020204030204"/>
            </a:endParaRPr>
          </a:p>
          <a:p>
            <a:endParaRPr lang="en-IN" dirty="0"/>
          </a:p>
        </p:txBody>
      </p:sp>
    </p:spTree>
    <p:extLst>
      <p:ext uri="{BB962C8B-B14F-4D97-AF65-F5344CB8AC3E}">
        <p14:creationId xmlns:p14="http://schemas.microsoft.com/office/powerpoint/2010/main" xmlns="" val="7389660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751081-625D-49FF-BE93-0FE9896232EA}"/>
              </a:ext>
            </a:extLst>
          </p:cNvPr>
          <p:cNvSpPr>
            <a:spLocks noGrp="1"/>
          </p:cNvSpPr>
          <p:nvPr>
            <p:ph type="title"/>
          </p:nvPr>
        </p:nvSpPr>
        <p:spPr/>
        <p:txBody>
          <a:bodyPr/>
          <a:lstStyle/>
          <a:p>
            <a:r>
              <a:rPr lang="en-US" altLang="en-US" sz="2800" u="sng" dirty="0"/>
              <a:t>Modules</a:t>
            </a:r>
            <a:endParaRPr lang="en-IN" dirty="0"/>
          </a:p>
        </p:txBody>
      </p:sp>
      <p:sp>
        <p:nvSpPr>
          <p:cNvPr id="3" name="Content Placeholder 2">
            <a:extLst>
              <a:ext uri="{FF2B5EF4-FFF2-40B4-BE49-F238E27FC236}">
                <a16:creationId xmlns:a16="http://schemas.microsoft.com/office/drawing/2014/main" xmlns="" id="{C4626BCF-17E0-40EA-BE6D-B627B4CE823A}"/>
              </a:ext>
            </a:extLst>
          </p:cNvPr>
          <p:cNvSpPr>
            <a:spLocks noGrp="1"/>
          </p:cNvSpPr>
          <p:nvPr>
            <p:ph idx="1"/>
          </p:nvPr>
        </p:nvSpPr>
        <p:spPr/>
        <p:txBody>
          <a:bodyPr/>
          <a:lstStyle/>
          <a:p>
            <a:pPr marL="342900" indent="-342900" eaLnBrk="1" fontAlgn="auto" hangingPunct="1">
              <a:spcBef>
                <a:spcPts val="0"/>
              </a:spcBef>
              <a:spcAft>
                <a:spcPts val="0"/>
              </a:spcAft>
              <a:buFontTx/>
              <a:buAutoNum type="arabicPeriod"/>
              <a:defRPr/>
            </a:pPr>
            <a:r>
              <a:rPr lang="en-IN" sz="2000" dirty="0">
                <a:latin typeface="+mn-lt"/>
              </a:rPr>
              <a:t>Admin Module</a:t>
            </a:r>
          </a:p>
          <a:p>
            <a:pPr marL="342900" indent="-342900" eaLnBrk="1" fontAlgn="auto" hangingPunct="1">
              <a:spcBef>
                <a:spcPts val="0"/>
              </a:spcBef>
              <a:spcAft>
                <a:spcPts val="0"/>
              </a:spcAft>
              <a:buFontTx/>
              <a:buAutoNum type="arabicPeriod"/>
              <a:defRPr/>
            </a:pPr>
            <a:r>
              <a:rPr lang="en-IN" sz="2000" dirty="0">
                <a:latin typeface="+mn-lt"/>
              </a:rPr>
              <a:t>Customer Module</a:t>
            </a:r>
          </a:p>
          <a:p>
            <a:endParaRPr lang="en-IN" dirty="0"/>
          </a:p>
        </p:txBody>
      </p:sp>
    </p:spTree>
    <p:extLst>
      <p:ext uri="{BB962C8B-B14F-4D97-AF65-F5344CB8AC3E}">
        <p14:creationId xmlns:p14="http://schemas.microsoft.com/office/powerpoint/2010/main" xmlns="" val="19639932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491917-27F7-4818-BFEB-31F1A7626654}"/>
              </a:ext>
            </a:extLst>
          </p:cNvPr>
          <p:cNvSpPr>
            <a:spLocks noGrp="1"/>
          </p:cNvSpPr>
          <p:nvPr>
            <p:ph type="title"/>
          </p:nvPr>
        </p:nvSpPr>
        <p:spPr/>
        <p:txBody>
          <a:bodyPr/>
          <a:lstStyle/>
          <a:p>
            <a:r>
              <a:rPr lang="en-IN" altLang="en-US" b="1" u="sng" dirty="0"/>
              <a:t>Admin Module:</a:t>
            </a:r>
            <a:endParaRPr lang="en-IN" dirty="0"/>
          </a:p>
        </p:txBody>
      </p:sp>
      <p:sp>
        <p:nvSpPr>
          <p:cNvPr id="3" name="Content Placeholder 2">
            <a:extLst>
              <a:ext uri="{FF2B5EF4-FFF2-40B4-BE49-F238E27FC236}">
                <a16:creationId xmlns:a16="http://schemas.microsoft.com/office/drawing/2014/main" xmlns="" id="{151C6C96-559C-49C2-B463-44EA97632BBF}"/>
              </a:ext>
            </a:extLst>
          </p:cNvPr>
          <p:cNvSpPr>
            <a:spLocks noGrp="1"/>
          </p:cNvSpPr>
          <p:nvPr>
            <p:ph idx="1"/>
          </p:nvPr>
        </p:nvSpPr>
        <p:spPr/>
        <p:txBody>
          <a:bodyPr/>
          <a:lstStyle/>
          <a:p>
            <a:r>
              <a:rPr lang="en-US" dirty="0"/>
              <a:t>Adds Customers</a:t>
            </a:r>
          </a:p>
          <a:p>
            <a:r>
              <a:rPr lang="en-US" dirty="0"/>
              <a:t>Adds Inward Products</a:t>
            </a:r>
          </a:p>
          <a:p>
            <a:r>
              <a:rPr lang="en-US" dirty="0"/>
              <a:t>Adds Outward Products</a:t>
            </a:r>
          </a:p>
          <a:p>
            <a:r>
              <a:rPr lang="en-US" dirty="0"/>
              <a:t>Adds Payment Information</a:t>
            </a:r>
          </a:p>
          <a:p>
            <a:r>
              <a:rPr lang="en-US" dirty="0"/>
              <a:t>Adds Customer Loan Information</a:t>
            </a:r>
          </a:p>
          <a:p>
            <a:r>
              <a:rPr lang="en-US" dirty="0"/>
              <a:t>Creates Invoice for Outward Products</a:t>
            </a:r>
          </a:p>
          <a:p>
            <a:endParaRPr lang="en-IN" dirty="0"/>
          </a:p>
        </p:txBody>
      </p:sp>
    </p:spTree>
    <p:extLst>
      <p:ext uri="{BB962C8B-B14F-4D97-AF65-F5344CB8AC3E}">
        <p14:creationId xmlns:p14="http://schemas.microsoft.com/office/powerpoint/2010/main" xmlns="" val="262351843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658EC0-3E9F-41AC-A777-3935B14A2CA4}"/>
              </a:ext>
            </a:extLst>
          </p:cNvPr>
          <p:cNvSpPr>
            <a:spLocks noGrp="1"/>
          </p:cNvSpPr>
          <p:nvPr>
            <p:ph type="title"/>
          </p:nvPr>
        </p:nvSpPr>
        <p:spPr/>
        <p:txBody>
          <a:bodyPr/>
          <a:lstStyle/>
          <a:p>
            <a:r>
              <a:rPr lang="en-IN" b="1" u="sng" dirty="0"/>
              <a:t>Customer Module</a:t>
            </a:r>
            <a:r>
              <a:rPr lang="en-IN" b="1" dirty="0"/>
              <a:t>:</a:t>
            </a:r>
            <a:endParaRPr lang="en-IN" dirty="0"/>
          </a:p>
        </p:txBody>
      </p:sp>
      <p:sp>
        <p:nvSpPr>
          <p:cNvPr id="3" name="Content Placeholder 2">
            <a:extLst>
              <a:ext uri="{FF2B5EF4-FFF2-40B4-BE49-F238E27FC236}">
                <a16:creationId xmlns:a16="http://schemas.microsoft.com/office/drawing/2014/main" xmlns="" id="{1CCD6832-D29D-4108-9B83-F44BE085111B}"/>
              </a:ext>
            </a:extLst>
          </p:cNvPr>
          <p:cNvSpPr>
            <a:spLocks noGrp="1"/>
          </p:cNvSpPr>
          <p:nvPr>
            <p:ph idx="1"/>
          </p:nvPr>
        </p:nvSpPr>
        <p:spPr/>
        <p:txBody>
          <a:bodyPr/>
          <a:lstStyle/>
          <a:p>
            <a:r>
              <a:rPr lang="en-US" dirty="0"/>
              <a:t>Can login into the application </a:t>
            </a:r>
          </a:p>
          <a:p>
            <a:r>
              <a:rPr lang="en-US" dirty="0"/>
              <a:t>Can view his/her profile</a:t>
            </a:r>
          </a:p>
          <a:p>
            <a:r>
              <a:rPr lang="en-US" dirty="0"/>
              <a:t>Can download Invoice</a:t>
            </a:r>
            <a:endParaRPr lang="en-IN" dirty="0"/>
          </a:p>
        </p:txBody>
      </p:sp>
    </p:spTree>
    <p:extLst>
      <p:ext uri="{BB962C8B-B14F-4D97-AF65-F5344CB8AC3E}">
        <p14:creationId xmlns:p14="http://schemas.microsoft.com/office/powerpoint/2010/main" xmlns="" val="8982079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A7DCB2-96A8-4820-8D32-7A900A85F5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0847A2C3-4260-463C-9CA0-50DB0062AA4A}"/>
              </a:ext>
            </a:extLst>
          </p:cNvPr>
          <p:cNvSpPr>
            <a:spLocks noGrp="1"/>
          </p:cNvSpPr>
          <p:nvPr>
            <p:ph idx="1"/>
          </p:nvPr>
        </p:nvSpPr>
        <p:spPr/>
        <p:txBody>
          <a:bodyPr/>
          <a:lstStyle/>
          <a:p>
            <a:endParaRPr lang="en-US"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pPr marL="1371600" lvl="3" indent="0">
              <a:buNone/>
            </a:pPr>
            <a:r>
              <a:rPr lang="en-IN" sz="6000" dirty="0">
                <a:latin typeface="Times New Roman" pitchFamily="18" charset="0"/>
                <a:cs typeface="Times New Roman" pitchFamily="18" charset="0"/>
              </a:rPr>
              <a:t>	Database Tables</a:t>
            </a:r>
          </a:p>
          <a:p>
            <a:pPr marL="1371600" lvl="3" indent="0">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xmlns="" val="32767300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CB15F3-F114-4D67-B4DE-04CF1E3EC3E2}"/>
              </a:ext>
            </a:extLst>
          </p:cNvPr>
          <p:cNvSpPr>
            <a:spLocks noGrp="1"/>
          </p:cNvSpPr>
          <p:nvPr>
            <p:ph type="title"/>
          </p:nvPr>
        </p:nvSpPr>
        <p:spPr/>
        <p:txBody>
          <a:bodyPr/>
          <a:lstStyle/>
          <a:p>
            <a:r>
              <a:rPr lang="en-US" b="1" u="sng" dirty="0"/>
              <a:t>Customer Details table:</a:t>
            </a:r>
            <a:endParaRPr lang="en-IN" b="1" u="sng" dirty="0"/>
          </a:p>
        </p:txBody>
      </p:sp>
      <p:graphicFrame>
        <p:nvGraphicFramePr>
          <p:cNvPr id="4" name="Content Placeholder 3">
            <a:extLst>
              <a:ext uri="{FF2B5EF4-FFF2-40B4-BE49-F238E27FC236}">
                <a16:creationId xmlns:a16="http://schemas.microsoft.com/office/drawing/2014/main" xmlns="" id="{1A7DD74E-305D-4260-8CE5-6D36DBE75791}"/>
              </a:ext>
            </a:extLst>
          </p:cNvPr>
          <p:cNvGraphicFramePr>
            <a:graphicFrameLocks noGrp="1"/>
          </p:cNvGraphicFramePr>
          <p:nvPr>
            <p:ph idx="1"/>
            <p:extLst>
              <p:ext uri="{D42A27DB-BD31-4B8C-83A1-F6EECF244321}">
                <p14:modId xmlns:p14="http://schemas.microsoft.com/office/powerpoint/2010/main" xmlns="" val="1230666973"/>
              </p:ext>
            </p:extLst>
          </p:nvPr>
        </p:nvGraphicFramePr>
        <p:xfrm>
          <a:off x="1238250" y="1609726"/>
          <a:ext cx="9847333" cy="3553711"/>
        </p:xfrm>
        <a:graphic>
          <a:graphicData uri="http://schemas.openxmlformats.org/drawingml/2006/table">
            <a:tbl>
              <a:tblPr firstRow="1" firstCol="1" bandRow="1">
                <a:tableStyleId>{5C22544A-7EE6-4342-B048-85BDC9FD1C3A}</a:tableStyleId>
              </a:tblPr>
              <a:tblGrid>
                <a:gridCol w="933962">
                  <a:extLst>
                    <a:ext uri="{9D8B030D-6E8A-4147-A177-3AD203B41FA5}">
                      <a16:colId xmlns:a16="http://schemas.microsoft.com/office/drawing/2014/main" xmlns="" val="1452091305"/>
                    </a:ext>
                  </a:extLst>
                </a:gridCol>
                <a:gridCol w="2638988">
                  <a:extLst>
                    <a:ext uri="{9D8B030D-6E8A-4147-A177-3AD203B41FA5}">
                      <a16:colId xmlns:a16="http://schemas.microsoft.com/office/drawing/2014/main" xmlns="" val="2610127256"/>
                    </a:ext>
                  </a:extLst>
                </a:gridCol>
                <a:gridCol w="1806385">
                  <a:extLst>
                    <a:ext uri="{9D8B030D-6E8A-4147-A177-3AD203B41FA5}">
                      <a16:colId xmlns:a16="http://schemas.microsoft.com/office/drawing/2014/main" xmlns="" val="307708214"/>
                    </a:ext>
                  </a:extLst>
                </a:gridCol>
                <a:gridCol w="1569275">
                  <a:extLst>
                    <a:ext uri="{9D8B030D-6E8A-4147-A177-3AD203B41FA5}">
                      <a16:colId xmlns:a16="http://schemas.microsoft.com/office/drawing/2014/main" xmlns="" val="3058994110"/>
                    </a:ext>
                  </a:extLst>
                </a:gridCol>
                <a:gridCol w="2898723">
                  <a:extLst>
                    <a:ext uri="{9D8B030D-6E8A-4147-A177-3AD203B41FA5}">
                      <a16:colId xmlns:a16="http://schemas.microsoft.com/office/drawing/2014/main" xmlns="" val="579019042"/>
                    </a:ext>
                  </a:extLst>
                </a:gridCol>
              </a:tblGrid>
              <a:tr h="296352">
                <a:tc>
                  <a:txBody>
                    <a:bodyPr/>
                    <a:lstStyle/>
                    <a:p>
                      <a:pPr algn="ctr">
                        <a:lnSpc>
                          <a:spcPct val="115000"/>
                        </a:lnSpc>
                        <a:spcAft>
                          <a:spcPts val="0"/>
                        </a:spcAft>
                      </a:pPr>
                      <a:r>
                        <a:rPr lang="en-IN" sz="1600" dirty="0" err="1">
                          <a:effectLst/>
                          <a:latin typeface="Times New Roman" panose="02020603050405020304" pitchFamily="18" charset="0"/>
                          <a:cs typeface="Times New Roman" panose="02020603050405020304" pitchFamily="18" charset="0"/>
                        </a:rPr>
                        <a:t>S.No</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Field</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Type</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Constraint</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Description</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980170591"/>
                  </a:ext>
                </a:extLst>
              </a:tr>
              <a:tr h="341822">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Customer D</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varchar(50)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1600" b="0" dirty="0">
                          <a:effectLst/>
                          <a:latin typeface="Times New Roman" panose="02020603050405020304" pitchFamily="18" charset="0"/>
                          <a:ea typeface="Times New Roman" panose="02020603050405020304" pitchFamily="18" charset="0"/>
                          <a:cs typeface="Times New Roman" panose="02020603050405020304" pitchFamily="18" charset="0"/>
                        </a:rPr>
                        <a:t>IDENTITY(1,1)</a:t>
                      </a: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Customer ID</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808576729"/>
                  </a:ext>
                </a:extLst>
              </a:tr>
              <a:tr h="335023">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Customer ID</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varchar(50)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Not Null</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Customer ID</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324284233"/>
                  </a:ext>
                </a:extLst>
              </a:tr>
              <a:tr h="266944">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3.</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Customer Phone Number</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Number(10)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fontAlgn="b"/>
                      <a:r>
                        <a:rPr lang="en-IN" sz="1600" u="none" strike="noStrike" dirty="0">
                          <a:effectLst/>
                          <a:latin typeface="Times New Roman" panose="02020603050405020304" pitchFamily="18" charset="0"/>
                          <a:cs typeface="Times New Roman" panose="02020603050405020304" pitchFamily="18" charset="0"/>
                        </a:rPr>
                        <a:t>CHECK(</a:t>
                      </a:r>
                    </a:p>
                    <a:p>
                      <a:pPr algn="ctr" fontAlgn="b"/>
                      <a:r>
                        <a:rPr lang="en-IN" sz="1600" u="none" strike="noStrike" dirty="0">
                          <a:effectLst/>
                          <a:latin typeface="Times New Roman" panose="02020603050405020304" pitchFamily="18" charset="0"/>
                          <a:cs typeface="Times New Roman" panose="02020603050405020304" pitchFamily="18" charset="0"/>
                        </a:rPr>
                        <a:t>Length=10)</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Customer Phone Number</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789260627"/>
                  </a:ext>
                </a:extLst>
              </a:tr>
              <a:tr h="296352">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Customer Email</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varchar(50)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Not Null</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Customer Email ID</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83762506"/>
                  </a:ext>
                </a:extLst>
              </a:tr>
              <a:tr h="409555">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Customer House Number</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varchar(50)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Not Null</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Customer House Number</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406616066"/>
                  </a:ext>
                </a:extLst>
              </a:tr>
              <a:tr h="452400">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6.</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Customer Street ID</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varchar(50)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Not Null</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Customer Street ID</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4279243720"/>
                  </a:ext>
                </a:extLst>
              </a:tr>
              <a:tr h="296352">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Customer City</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varchar(50)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Not Null</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Customer City</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528146677"/>
                  </a:ext>
                </a:extLst>
              </a:tr>
              <a:tr h="341823">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Customer Zip Code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Number(10)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Not Null</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Customer Zip Code</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211728062"/>
                  </a:ext>
                </a:extLst>
              </a:tr>
              <a:tr h="296352">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Customer State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varchar(50)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latin typeface="Times New Roman" panose="02020603050405020304" pitchFamily="18" charset="0"/>
                          <a:cs typeface="Times New Roman" panose="02020603050405020304" pitchFamily="18" charset="0"/>
                        </a:rPr>
                        <a:t>Not Null</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latin typeface="Times New Roman" panose="02020603050405020304" pitchFamily="18" charset="0"/>
                          <a:cs typeface="Times New Roman" panose="02020603050405020304" pitchFamily="18" charset="0"/>
                        </a:rPr>
                        <a:t>Customer State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541053748"/>
                  </a:ext>
                </a:extLst>
              </a:tr>
            </a:tbl>
          </a:graphicData>
        </a:graphic>
      </p:graphicFrame>
    </p:spTree>
    <p:extLst>
      <p:ext uri="{BB962C8B-B14F-4D97-AF65-F5344CB8AC3E}">
        <p14:creationId xmlns:p14="http://schemas.microsoft.com/office/powerpoint/2010/main" xmlns="" val="37020213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3D2AC7-A585-42BD-8E92-56015B0315AA}"/>
              </a:ext>
            </a:extLst>
          </p:cNvPr>
          <p:cNvSpPr>
            <a:spLocks noGrp="1"/>
          </p:cNvSpPr>
          <p:nvPr>
            <p:ph type="title"/>
          </p:nvPr>
        </p:nvSpPr>
        <p:spPr/>
        <p:txBody>
          <a:bodyPr/>
          <a:lstStyle/>
          <a:p>
            <a:r>
              <a:rPr lang="en-US" b="1" u="sng" dirty="0"/>
              <a:t>Admin Login Details table:</a:t>
            </a:r>
            <a:endParaRPr lang="en-IN" b="1" u="sng" dirty="0"/>
          </a:p>
        </p:txBody>
      </p:sp>
      <p:graphicFrame>
        <p:nvGraphicFramePr>
          <p:cNvPr id="4" name="Content Placeholder 3">
            <a:extLst>
              <a:ext uri="{FF2B5EF4-FFF2-40B4-BE49-F238E27FC236}">
                <a16:creationId xmlns:a16="http://schemas.microsoft.com/office/drawing/2014/main" xmlns="" id="{53E91D28-D2F1-4AC4-9F7F-449F6A0A2ED0}"/>
              </a:ext>
            </a:extLst>
          </p:cNvPr>
          <p:cNvGraphicFramePr>
            <a:graphicFrameLocks noGrp="1"/>
          </p:cNvGraphicFramePr>
          <p:nvPr>
            <p:ph idx="1"/>
            <p:extLst>
              <p:ext uri="{D42A27DB-BD31-4B8C-83A1-F6EECF244321}">
                <p14:modId xmlns:p14="http://schemas.microsoft.com/office/powerpoint/2010/main" xmlns="" val="356154286"/>
              </p:ext>
            </p:extLst>
          </p:nvPr>
        </p:nvGraphicFramePr>
        <p:xfrm>
          <a:off x="1104899" y="1602380"/>
          <a:ext cx="9980683" cy="1245595"/>
        </p:xfrm>
        <a:graphic>
          <a:graphicData uri="http://schemas.openxmlformats.org/drawingml/2006/table">
            <a:tbl>
              <a:tblPr firstRow="1" firstCol="1" bandRow="1">
                <a:tableStyleId>{5C22544A-7EE6-4342-B048-85BDC9FD1C3A}</a:tableStyleId>
              </a:tblPr>
              <a:tblGrid>
                <a:gridCol w="1374053">
                  <a:extLst>
                    <a:ext uri="{9D8B030D-6E8A-4147-A177-3AD203B41FA5}">
                      <a16:colId xmlns:a16="http://schemas.microsoft.com/office/drawing/2014/main" xmlns="" val="614177151"/>
                    </a:ext>
                  </a:extLst>
                </a:gridCol>
                <a:gridCol w="2234440">
                  <a:extLst>
                    <a:ext uri="{9D8B030D-6E8A-4147-A177-3AD203B41FA5}">
                      <a16:colId xmlns:a16="http://schemas.microsoft.com/office/drawing/2014/main" xmlns="" val="1750851620"/>
                    </a:ext>
                  </a:extLst>
                </a:gridCol>
                <a:gridCol w="1748294">
                  <a:extLst>
                    <a:ext uri="{9D8B030D-6E8A-4147-A177-3AD203B41FA5}">
                      <a16:colId xmlns:a16="http://schemas.microsoft.com/office/drawing/2014/main" xmlns="" val="1308096904"/>
                    </a:ext>
                  </a:extLst>
                </a:gridCol>
                <a:gridCol w="1677664">
                  <a:extLst>
                    <a:ext uri="{9D8B030D-6E8A-4147-A177-3AD203B41FA5}">
                      <a16:colId xmlns:a16="http://schemas.microsoft.com/office/drawing/2014/main" xmlns="" val="2517853665"/>
                    </a:ext>
                  </a:extLst>
                </a:gridCol>
                <a:gridCol w="2946232">
                  <a:extLst>
                    <a:ext uri="{9D8B030D-6E8A-4147-A177-3AD203B41FA5}">
                      <a16:colId xmlns:a16="http://schemas.microsoft.com/office/drawing/2014/main" xmlns="" val="4287698964"/>
                    </a:ext>
                  </a:extLst>
                </a:gridCol>
              </a:tblGrid>
              <a:tr h="485775">
                <a:tc>
                  <a:txBody>
                    <a:bodyPr/>
                    <a:lstStyle/>
                    <a:p>
                      <a:pPr algn="ctr">
                        <a:lnSpc>
                          <a:spcPct val="115000"/>
                        </a:lnSpc>
                        <a:spcAft>
                          <a:spcPts val="0"/>
                        </a:spcAft>
                      </a:pPr>
                      <a:r>
                        <a:rPr lang="en-IN" sz="1600" dirty="0" err="1">
                          <a:effectLst/>
                        </a:rPr>
                        <a:t>S.No</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Field</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Type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Constraint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Description</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86205440"/>
                  </a:ext>
                </a:extLst>
              </a:tr>
              <a:tr h="419100">
                <a:tc>
                  <a:txBody>
                    <a:bodyPr/>
                    <a:lstStyle/>
                    <a:p>
                      <a:pPr algn="ctr">
                        <a:lnSpc>
                          <a:spcPct val="115000"/>
                        </a:lnSpc>
                        <a:spcAft>
                          <a:spcPts val="0"/>
                        </a:spcAft>
                      </a:pPr>
                      <a:r>
                        <a:rPr lang="en-IN" sz="16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Admin ID</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varchar(50)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Primary Key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Login ID for Admin</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4181937020"/>
                  </a:ext>
                </a:extLst>
              </a:tr>
              <a:tr h="340720">
                <a:tc>
                  <a:txBody>
                    <a:bodyPr/>
                    <a:lstStyle/>
                    <a:p>
                      <a:pPr algn="ctr">
                        <a:lnSpc>
                          <a:spcPct val="115000"/>
                        </a:lnSpc>
                        <a:spcAft>
                          <a:spcPts val="0"/>
                        </a:spcAft>
                      </a:pPr>
                      <a:r>
                        <a:rPr lang="en-IN" sz="16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Admin password</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varchar(50)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Not 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Password for Login</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524642068"/>
                  </a:ext>
                </a:extLst>
              </a:tr>
            </a:tbl>
          </a:graphicData>
        </a:graphic>
      </p:graphicFrame>
      <p:sp>
        <p:nvSpPr>
          <p:cNvPr id="5" name="Rectangle 1">
            <a:extLst>
              <a:ext uri="{FF2B5EF4-FFF2-40B4-BE49-F238E27FC236}">
                <a16:creationId xmlns:a16="http://schemas.microsoft.com/office/drawing/2014/main" xmlns="" id="{36E4C177-8AD2-4D0B-8D79-12D020B81616}"/>
              </a:ext>
            </a:extLst>
          </p:cNvPr>
          <p:cNvSpPr>
            <a:spLocks noChangeArrowheads="1"/>
          </p:cNvSpPr>
          <p:nvPr/>
        </p:nvSpPr>
        <p:spPr bwMode="auto">
          <a:xfrm>
            <a:off x="-2710254" y="-642259"/>
            <a:ext cx="17611347" cy="15261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xmlns="" val="123385194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C9307B-7F02-495E-8FDF-131778008FB5}"/>
              </a:ext>
            </a:extLst>
          </p:cNvPr>
          <p:cNvSpPr>
            <a:spLocks noGrp="1"/>
          </p:cNvSpPr>
          <p:nvPr>
            <p:ph type="title"/>
          </p:nvPr>
        </p:nvSpPr>
        <p:spPr/>
        <p:txBody>
          <a:bodyPr/>
          <a:lstStyle/>
          <a:p>
            <a:r>
              <a:rPr lang="en-US" b="1" u="sng" dirty="0"/>
              <a:t>Customer Login Details table:</a:t>
            </a:r>
            <a:endParaRPr lang="en-IN" b="1" u="sng" dirty="0"/>
          </a:p>
        </p:txBody>
      </p:sp>
      <p:graphicFrame>
        <p:nvGraphicFramePr>
          <p:cNvPr id="6" name="Content Placeholder 5">
            <a:extLst>
              <a:ext uri="{FF2B5EF4-FFF2-40B4-BE49-F238E27FC236}">
                <a16:creationId xmlns:a16="http://schemas.microsoft.com/office/drawing/2014/main" xmlns="" id="{74F4C0CE-DBF7-4114-9FA3-07F9A6705CA7}"/>
              </a:ext>
            </a:extLst>
          </p:cNvPr>
          <p:cNvGraphicFramePr>
            <a:graphicFrameLocks noGrp="1"/>
          </p:cNvGraphicFramePr>
          <p:nvPr>
            <p:ph idx="1"/>
            <p:extLst>
              <p:ext uri="{D42A27DB-BD31-4B8C-83A1-F6EECF244321}">
                <p14:modId xmlns:p14="http://schemas.microsoft.com/office/powerpoint/2010/main" xmlns="" val="996627901"/>
              </p:ext>
            </p:extLst>
          </p:nvPr>
        </p:nvGraphicFramePr>
        <p:xfrm>
          <a:off x="1104900" y="1504188"/>
          <a:ext cx="9980681" cy="841248"/>
        </p:xfrm>
        <a:graphic>
          <a:graphicData uri="http://schemas.openxmlformats.org/drawingml/2006/table">
            <a:tbl>
              <a:tblPr firstRow="1" firstCol="1" bandRow="1">
                <a:tableStyleId>{5C22544A-7EE6-4342-B048-85BDC9FD1C3A}</a:tableStyleId>
              </a:tblPr>
              <a:tblGrid>
                <a:gridCol w="1374052">
                  <a:extLst>
                    <a:ext uri="{9D8B030D-6E8A-4147-A177-3AD203B41FA5}">
                      <a16:colId xmlns:a16="http://schemas.microsoft.com/office/drawing/2014/main" xmlns="" val="334919625"/>
                    </a:ext>
                  </a:extLst>
                </a:gridCol>
                <a:gridCol w="2234440">
                  <a:extLst>
                    <a:ext uri="{9D8B030D-6E8A-4147-A177-3AD203B41FA5}">
                      <a16:colId xmlns:a16="http://schemas.microsoft.com/office/drawing/2014/main" xmlns="" val="2766254415"/>
                    </a:ext>
                  </a:extLst>
                </a:gridCol>
                <a:gridCol w="1748293">
                  <a:extLst>
                    <a:ext uri="{9D8B030D-6E8A-4147-A177-3AD203B41FA5}">
                      <a16:colId xmlns:a16="http://schemas.microsoft.com/office/drawing/2014/main" xmlns="" val="1998987970"/>
                    </a:ext>
                  </a:extLst>
                </a:gridCol>
                <a:gridCol w="1677664">
                  <a:extLst>
                    <a:ext uri="{9D8B030D-6E8A-4147-A177-3AD203B41FA5}">
                      <a16:colId xmlns:a16="http://schemas.microsoft.com/office/drawing/2014/main" xmlns="" val="2733614329"/>
                    </a:ext>
                  </a:extLst>
                </a:gridCol>
                <a:gridCol w="2946232">
                  <a:extLst>
                    <a:ext uri="{9D8B030D-6E8A-4147-A177-3AD203B41FA5}">
                      <a16:colId xmlns:a16="http://schemas.microsoft.com/office/drawing/2014/main" xmlns="" val="1732149555"/>
                    </a:ext>
                  </a:extLst>
                </a:gridCol>
              </a:tblGrid>
              <a:tr h="0">
                <a:tc>
                  <a:txBody>
                    <a:bodyPr/>
                    <a:lstStyle/>
                    <a:p>
                      <a:pPr algn="ctr">
                        <a:lnSpc>
                          <a:spcPct val="115000"/>
                        </a:lnSpc>
                        <a:spcAft>
                          <a:spcPts val="0"/>
                        </a:spcAft>
                      </a:pPr>
                      <a:r>
                        <a:rPr lang="en-IN" sz="1600">
                          <a:effectLst/>
                        </a:rPr>
                        <a:t>S.No</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Field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Type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Constraint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Description</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826239261"/>
                  </a:ext>
                </a:extLst>
              </a:tr>
              <a:tr h="0">
                <a:tc>
                  <a:txBody>
                    <a:bodyPr/>
                    <a:lstStyle/>
                    <a:p>
                      <a:pPr algn="ctr">
                        <a:lnSpc>
                          <a:spcPct val="115000"/>
                        </a:lnSpc>
                        <a:spcAft>
                          <a:spcPts val="0"/>
                        </a:spcAft>
                      </a:pPr>
                      <a:r>
                        <a:rPr lang="en-IN" sz="16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Login ID</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int</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Primary Key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Login ID for Customer Login</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650254642"/>
                  </a:ext>
                </a:extLst>
              </a:tr>
              <a:tr h="0">
                <a:tc>
                  <a:txBody>
                    <a:bodyPr/>
                    <a:lstStyle/>
                    <a:p>
                      <a:pPr algn="ctr">
                        <a:lnSpc>
                          <a:spcPct val="115000"/>
                        </a:lnSpc>
                        <a:spcAft>
                          <a:spcPts val="0"/>
                        </a:spcAft>
                      </a:pPr>
                      <a:r>
                        <a:rPr lang="en-IN" sz="16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Login password</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varchar(50)</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Not 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Password for Customer Login</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626494414"/>
                  </a:ext>
                </a:extLst>
              </a:tr>
            </a:tbl>
          </a:graphicData>
        </a:graphic>
      </p:graphicFrame>
      <p:sp>
        <p:nvSpPr>
          <p:cNvPr id="7" name="Rectangle 2">
            <a:extLst>
              <a:ext uri="{FF2B5EF4-FFF2-40B4-BE49-F238E27FC236}">
                <a16:creationId xmlns:a16="http://schemas.microsoft.com/office/drawing/2014/main" xmlns="" id="{9748034F-ADB3-4A32-93DD-AC65CD6A6CD4}"/>
              </a:ext>
            </a:extLst>
          </p:cNvPr>
          <p:cNvSpPr>
            <a:spLocks noChangeArrowheads="1"/>
          </p:cNvSpPr>
          <p:nvPr/>
        </p:nvSpPr>
        <p:spPr bwMode="auto">
          <a:xfrm>
            <a:off x="-1536382" y="-1847850"/>
            <a:ext cx="1761135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xmlns="" val="147926876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D241FD-B4D0-4880-B41E-BDC749585071}"/>
              </a:ext>
            </a:extLst>
          </p:cNvPr>
          <p:cNvSpPr>
            <a:spLocks noGrp="1"/>
          </p:cNvSpPr>
          <p:nvPr>
            <p:ph type="title"/>
          </p:nvPr>
        </p:nvSpPr>
        <p:spPr/>
        <p:txBody>
          <a:bodyPr/>
          <a:lstStyle/>
          <a:p>
            <a:r>
              <a:rPr lang="en-US" b="1" u="sng" dirty="0"/>
              <a:t>Inward Products Details table:</a:t>
            </a:r>
            <a:endParaRPr lang="en-IN" b="1" u="sng" dirty="0"/>
          </a:p>
        </p:txBody>
      </p:sp>
      <p:graphicFrame>
        <p:nvGraphicFramePr>
          <p:cNvPr id="4" name="Content Placeholder 3">
            <a:extLst>
              <a:ext uri="{FF2B5EF4-FFF2-40B4-BE49-F238E27FC236}">
                <a16:creationId xmlns:a16="http://schemas.microsoft.com/office/drawing/2014/main" xmlns="" id="{09BFEB9F-E621-414B-A9EB-857646C0B061}"/>
              </a:ext>
            </a:extLst>
          </p:cNvPr>
          <p:cNvGraphicFramePr>
            <a:graphicFrameLocks noGrp="1"/>
          </p:cNvGraphicFramePr>
          <p:nvPr>
            <p:ph idx="1"/>
            <p:extLst>
              <p:ext uri="{D42A27DB-BD31-4B8C-83A1-F6EECF244321}">
                <p14:modId xmlns:p14="http://schemas.microsoft.com/office/powerpoint/2010/main" xmlns="" val="2029221232"/>
              </p:ext>
            </p:extLst>
          </p:nvPr>
        </p:nvGraphicFramePr>
        <p:xfrm>
          <a:off x="1104900" y="1218499"/>
          <a:ext cx="9980682" cy="5058762"/>
        </p:xfrm>
        <a:graphic>
          <a:graphicData uri="http://schemas.openxmlformats.org/drawingml/2006/table">
            <a:tbl>
              <a:tblPr firstRow="1" firstCol="1" bandRow="1">
                <a:tableStyleId>{5C22544A-7EE6-4342-B048-85BDC9FD1C3A}</a:tableStyleId>
              </a:tblPr>
              <a:tblGrid>
                <a:gridCol w="883059">
                  <a:extLst>
                    <a:ext uri="{9D8B030D-6E8A-4147-A177-3AD203B41FA5}">
                      <a16:colId xmlns:a16="http://schemas.microsoft.com/office/drawing/2014/main" xmlns="" val="2781753524"/>
                    </a:ext>
                  </a:extLst>
                </a:gridCol>
                <a:gridCol w="3025788">
                  <a:extLst>
                    <a:ext uri="{9D8B030D-6E8A-4147-A177-3AD203B41FA5}">
                      <a16:colId xmlns:a16="http://schemas.microsoft.com/office/drawing/2014/main" xmlns="" val="2077616690"/>
                    </a:ext>
                  </a:extLst>
                </a:gridCol>
                <a:gridCol w="2718237">
                  <a:extLst>
                    <a:ext uri="{9D8B030D-6E8A-4147-A177-3AD203B41FA5}">
                      <a16:colId xmlns:a16="http://schemas.microsoft.com/office/drawing/2014/main" xmlns="" val="289570966"/>
                    </a:ext>
                  </a:extLst>
                </a:gridCol>
                <a:gridCol w="1593925">
                  <a:extLst>
                    <a:ext uri="{9D8B030D-6E8A-4147-A177-3AD203B41FA5}">
                      <a16:colId xmlns:a16="http://schemas.microsoft.com/office/drawing/2014/main" xmlns="" val="2542394087"/>
                    </a:ext>
                  </a:extLst>
                </a:gridCol>
                <a:gridCol w="1759673">
                  <a:extLst>
                    <a:ext uri="{9D8B030D-6E8A-4147-A177-3AD203B41FA5}">
                      <a16:colId xmlns:a16="http://schemas.microsoft.com/office/drawing/2014/main" xmlns="" val="57976636"/>
                    </a:ext>
                  </a:extLst>
                </a:gridCol>
              </a:tblGrid>
              <a:tr h="387398">
                <a:tc>
                  <a:txBody>
                    <a:bodyPr/>
                    <a:lstStyle/>
                    <a:p>
                      <a:pPr algn="ctr">
                        <a:lnSpc>
                          <a:spcPct val="115000"/>
                        </a:lnSpc>
                        <a:spcAft>
                          <a:spcPts val="0"/>
                        </a:spcAft>
                      </a:pPr>
                      <a:r>
                        <a:rPr lang="en-IN" sz="1200" dirty="0" err="1">
                          <a:effectLst/>
                        </a:rPr>
                        <a:t>S.No</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Field</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Type</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Constraint</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Description</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extLst>
                  <a:ext uri="{0D108BD9-81ED-4DB2-BD59-A6C34878D82A}">
                    <a16:rowId xmlns:a16="http://schemas.microsoft.com/office/drawing/2014/main" xmlns="" val="668809984"/>
                  </a:ext>
                </a:extLst>
              </a:tr>
              <a:tr h="387398">
                <a:tc>
                  <a:txBody>
                    <a:bodyPr/>
                    <a:lstStyle/>
                    <a:p>
                      <a:pPr algn="ctr">
                        <a:lnSpc>
                          <a:spcPct val="115000"/>
                        </a:lnSpc>
                        <a:spcAft>
                          <a:spcPts val="0"/>
                        </a:spcAft>
                      </a:pPr>
                      <a:r>
                        <a:rPr lang="en-IN" sz="1200">
                          <a:effectLst/>
                        </a:rPr>
                        <a:t>1.</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dirty="0">
                          <a:effectLst/>
                        </a:rPr>
                        <a:t>Inward Product ID</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I</a:t>
                      </a:r>
                      <a:r>
                        <a:rPr lang="en-IN" sz="1200" dirty="0">
                          <a:effectLst/>
                          <a:latin typeface="Calibri" panose="020F0502020204030204" pitchFamily="34" charset="0"/>
                          <a:ea typeface="Times New Roman" panose="02020603050405020304" pitchFamily="18" charset="0"/>
                          <a:cs typeface="Times New Roman" panose="02020603050405020304" pitchFamily="18" charset="0"/>
                        </a:rPr>
                        <a:t>DENTITY(1,1)</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Primary Key</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Incoming Product ID</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extLst>
                  <a:ext uri="{0D108BD9-81ED-4DB2-BD59-A6C34878D82A}">
                    <a16:rowId xmlns:a16="http://schemas.microsoft.com/office/drawing/2014/main" xmlns="" val="2827466977"/>
                  </a:ext>
                </a:extLst>
              </a:tr>
              <a:tr h="587908">
                <a:tc>
                  <a:txBody>
                    <a:bodyPr/>
                    <a:lstStyle/>
                    <a:p>
                      <a:pPr algn="ctr">
                        <a:lnSpc>
                          <a:spcPct val="115000"/>
                        </a:lnSpc>
                        <a:spcAft>
                          <a:spcPts val="0"/>
                        </a:spcAft>
                      </a:pPr>
                      <a:r>
                        <a:rPr lang="en-IN" sz="1200">
                          <a:effectLst/>
                        </a:rPr>
                        <a:t>2.</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dirty="0">
                          <a:effectLst/>
                        </a:rPr>
                        <a:t>Inward Product _Date</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IN" sz="1200" u="none" strike="noStrike" dirty="0">
                          <a:effectLst/>
                        </a:rPr>
                        <a:t>date</a:t>
                      </a:r>
                      <a:endParaRPr lang="en-IN" sz="1200" b="0" i="0" u="none" strike="noStrike" dirty="0">
                        <a:solidFill>
                          <a:srgbClr val="000000"/>
                        </a:solidFill>
                        <a:effectLst/>
                        <a:latin typeface="Calibri" panose="020F0502020204030204" pitchFamily="34" charset="0"/>
                      </a:endParaRPr>
                    </a:p>
                    <a:p>
                      <a:pPr algn="ctr">
                        <a:lnSpc>
                          <a:spcPct val="115000"/>
                        </a:lnSpc>
                        <a:spcAft>
                          <a:spcPts val="0"/>
                        </a:spcAft>
                      </a:pP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dirty="0">
                          <a:effectLst/>
                        </a:rPr>
                        <a:t>Not Null</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Incoming Product Date</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extLst>
                  <a:ext uri="{0D108BD9-81ED-4DB2-BD59-A6C34878D82A}">
                    <a16:rowId xmlns:a16="http://schemas.microsoft.com/office/drawing/2014/main" xmlns="" val="2007805193"/>
                  </a:ext>
                </a:extLst>
              </a:tr>
              <a:tr h="587908">
                <a:tc>
                  <a:txBody>
                    <a:bodyPr/>
                    <a:lstStyle/>
                    <a:p>
                      <a:pPr algn="ctr">
                        <a:lnSpc>
                          <a:spcPct val="115000"/>
                        </a:lnSpc>
                        <a:spcAft>
                          <a:spcPts val="0"/>
                        </a:spcAft>
                      </a:pPr>
                      <a:r>
                        <a:rPr lang="en-IN" sz="1200">
                          <a:effectLst/>
                        </a:rPr>
                        <a:t>3.</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dirty="0">
                          <a:effectLst/>
                        </a:rPr>
                        <a:t>Inward Product ID</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varchar(50)</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Not Null</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dirty="0">
                          <a:effectLst/>
                        </a:rPr>
                        <a:t>Incoming Product ID</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extLst>
                  <a:ext uri="{0D108BD9-81ED-4DB2-BD59-A6C34878D82A}">
                    <a16:rowId xmlns:a16="http://schemas.microsoft.com/office/drawing/2014/main" xmlns="" val="2665743601"/>
                  </a:ext>
                </a:extLst>
              </a:tr>
              <a:tr h="587908">
                <a:tc>
                  <a:txBody>
                    <a:bodyPr/>
                    <a:lstStyle/>
                    <a:p>
                      <a:pPr algn="ctr">
                        <a:lnSpc>
                          <a:spcPct val="115000"/>
                        </a:lnSpc>
                        <a:spcAft>
                          <a:spcPts val="0"/>
                        </a:spcAft>
                      </a:pPr>
                      <a:r>
                        <a:rPr lang="en-IN" sz="1200">
                          <a:effectLst/>
                        </a:rPr>
                        <a:t>4.</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dirty="0">
                          <a:effectLst/>
                        </a:rPr>
                        <a:t>Inward Product Cost</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dirty="0">
                          <a:effectLst/>
                        </a:rPr>
                        <a:t>money</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Not Null</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Incoming Product Cost</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extLst>
                  <a:ext uri="{0D108BD9-81ED-4DB2-BD59-A6C34878D82A}">
                    <a16:rowId xmlns:a16="http://schemas.microsoft.com/office/drawing/2014/main" xmlns="" val="800863665"/>
                  </a:ext>
                </a:extLst>
              </a:tr>
              <a:tr h="587908">
                <a:tc>
                  <a:txBody>
                    <a:bodyPr/>
                    <a:lstStyle/>
                    <a:p>
                      <a:pPr algn="ctr">
                        <a:lnSpc>
                          <a:spcPct val="115000"/>
                        </a:lnSpc>
                        <a:spcAft>
                          <a:spcPts val="0"/>
                        </a:spcAft>
                      </a:pPr>
                      <a:r>
                        <a:rPr lang="en-IN" sz="1200">
                          <a:effectLst/>
                        </a:rPr>
                        <a:t>5.</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dirty="0">
                          <a:effectLst/>
                        </a:rPr>
                        <a:t>Inward Product Quantity</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dirty="0">
                          <a:effectLst/>
                        </a:rPr>
                        <a:t>int</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Not Null</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Incoming Product Quantity</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extLst>
                  <a:ext uri="{0D108BD9-81ED-4DB2-BD59-A6C34878D82A}">
                    <a16:rowId xmlns:a16="http://schemas.microsoft.com/office/drawing/2014/main" xmlns="" val="3055448529"/>
                  </a:ext>
                </a:extLst>
              </a:tr>
              <a:tr h="674748">
                <a:tc>
                  <a:txBody>
                    <a:bodyPr/>
                    <a:lstStyle/>
                    <a:p>
                      <a:pPr algn="ctr">
                        <a:lnSpc>
                          <a:spcPct val="115000"/>
                        </a:lnSpc>
                        <a:spcAft>
                          <a:spcPts val="0"/>
                        </a:spcAft>
                      </a:pPr>
                      <a:r>
                        <a:rPr lang="en-IN" sz="1200">
                          <a:effectLst/>
                        </a:rPr>
                        <a:t>6.</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dirty="0">
                          <a:effectLst/>
                        </a:rPr>
                        <a:t>Inward Product Location</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varchar(50)</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Not Null</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Incoming Product location</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extLst>
                  <a:ext uri="{0D108BD9-81ED-4DB2-BD59-A6C34878D82A}">
                    <a16:rowId xmlns:a16="http://schemas.microsoft.com/office/drawing/2014/main" xmlns="" val="133052091"/>
                  </a:ext>
                </a:extLst>
              </a:tr>
              <a:tr h="387398">
                <a:tc>
                  <a:txBody>
                    <a:bodyPr/>
                    <a:lstStyle/>
                    <a:p>
                      <a:pPr algn="ctr">
                        <a:lnSpc>
                          <a:spcPct val="115000"/>
                        </a:lnSpc>
                        <a:spcAft>
                          <a:spcPts val="0"/>
                        </a:spcAft>
                      </a:pPr>
                      <a:r>
                        <a:rPr lang="en-IN" sz="1200">
                          <a:effectLst/>
                        </a:rPr>
                        <a:t>7.</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dirty="0">
                          <a:effectLst/>
                        </a:rPr>
                        <a:t>Customer ID</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US" sz="1200" dirty="0" err="1">
                          <a:effectLst/>
                          <a:latin typeface="Calibri" panose="020F0502020204030204" pitchFamily="34" charset="0"/>
                          <a:ea typeface="Times New Roman" panose="02020603050405020304" pitchFamily="18" charset="0"/>
                          <a:cs typeface="Times New Roman" panose="02020603050405020304" pitchFamily="18" charset="0"/>
                        </a:rPr>
                        <a:t>i</a:t>
                      </a:r>
                      <a:r>
                        <a:rPr lang="en-IN" sz="1200" dirty="0" err="1">
                          <a:effectLst/>
                          <a:latin typeface="Calibri" panose="020F0502020204030204" pitchFamily="34" charset="0"/>
                          <a:ea typeface="Times New Roman" panose="02020603050405020304" pitchFamily="18" charset="0"/>
                          <a:cs typeface="Times New Roman" panose="02020603050405020304" pitchFamily="18" charset="0"/>
                        </a:rPr>
                        <a:t>nt</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Foreign Key</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Customer ID</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extLst>
                  <a:ext uri="{0D108BD9-81ED-4DB2-BD59-A6C34878D82A}">
                    <a16:rowId xmlns:a16="http://schemas.microsoft.com/office/drawing/2014/main" xmlns="" val="390257748"/>
                  </a:ext>
                </a:extLst>
              </a:tr>
              <a:tr h="587908">
                <a:tc>
                  <a:txBody>
                    <a:bodyPr/>
                    <a:lstStyle/>
                    <a:p>
                      <a:pPr algn="ctr">
                        <a:lnSpc>
                          <a:spcPct val="115000"/>
                        </a:lnSpc>
                        <a:spcAft>
                          <a:spcPts val="0"/>
                        </a:spcAft>
                      </a:pPr>
                      <a:r>
                        <a:rPr lang="en-IN" sz="1200">
                          <a:effectLst/>
                        </a:rPr>
                        <a:t>8.</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dirty="0">
                          <a:effectLst/>
                        </a:rPr>
                        <a:t>Inward Product Insurance</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US" sz="1200" dirty="0" err="1">
                          <a:effectLst/>
                          <a:latin typeface="Calibri" panose="020F0502020204030204" pitchFamily="34" charset="0"/>
                          <a:ea typeface="Times New Roman" panose="02020603050405020304" pitchFamily="18" charset="0"/>
                          <a:cs typeface="Times New Roman" panose="02020603050405020304" pitchFamily="18" charset="0"/>
                        </a:rPr>
                        <a:t>boolean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Not Null</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Incoming Product Insurance</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extLst>
                  <a:ext uri="{0D108BD9-81ED-4DB2-BD59-A6C34878D82A}">
                    <a16:rowId xmlns:a16="http://schemas.microsoft.com/office/drawing/2014/main" xmlns="" val="1799126592"/>
                  </a:ext>
                </a:extLst>
              </a:tr>
              <a:tr h="282280">
                <a:tc>
                  <a:txBody>
                    <a:bodyPr/>
                    <a:lstStyle/>
                    <a:p>
                      <a:pPr algn="ctr">
                        <a:lnSpc>
                          <a:spcPct val="115000"/>
                        </a:lnSpc>
                        <a:spcAft>
                          <a:spcPts val="0"/>
                        </a:spcAft>
                      </a:pPr>
                      <a:r>
                        <a:rPr lang="en-IN" sz="1200">
                          <a:effectLst/>
                        </a:rPr>
                        <a:t>9.</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dirty="0">
                          <a:effectLst/>
                        </a:rPr>
                        <a:t>Inward Product Rent</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Number(10)</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a:effectLst/>
                        </a:rPr>
                        <a:t>Not Null</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tc>
                  <a:txBody>
                    <a:bodyPr/>
                    <a:lstStyle/>
                    <a:p>
                      <a:pPr algn="ctr">
                        <a:lnSpc>
                          <a:spcPct val="115000"/>
                        </a:lnSpc>
                        <a:spcAft>
                          <a:spcPts val="0"/>
                        </a:spcAft>
                      </a:pPr>
                      <a:r>
                        <a:rPr lang="en-IN" sz="1200" dirty="0">
                          <a:effectLst/>
                        </a:rPr>
                        <a:t>Incoming Product Rent</a:t>
                      </a:r>
                      <a:endParaRPr lang="en-US" sz="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9994" marR="49994" marT="0" marB="0"/>
                </a:tc>
                <a:extLst>
                  <a:ext uri="{0D108BD9-81ED-4DB2-BD59-A6C34878D82A}">
                    <a16:rowId xmlns:a16="http://schemas.microsoft.com/office/drawing/2014/main" xmlns="" val="3820620478"/>
                  </a:ext>
                </a:extLst>
              </a:tr>
            </a:tbl>
          </a:graphicData>
        </a:graphic>
      </p:graphicFrame>
    </p:spTree>
    <p:extLst>
      <p:ext uri="{BB962C8B-B14F-4D97-AF65-F5344CB8AC3E}">
        <p14:creationId xmlns:p14="http://schemas.microsoft.com/office/powerpoint/2010/main" xmlns="" val="358671926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86D115-79E8-48E0-9C95-4C1BB0AA1460}"/>
              </a:ext>
            </a:extLst>
          </p:cNvPr>
          <p:cNvSpPr>
            <a:spLocks noGrp="1"/>
          </p:cNvSpPr>
          <p:nvPr>
            <p:ph type="title"/>
          </p:nvPr>
        </p:nvSpPr>
        <p:spPr/>
        <p:txBody>
          <a:bodyPr/>
          <a:lstStyle/>
          <a:p>
            <a:r>
              <a:rPr lang="en-US" b="1" u="sng" dirty="0"/>
              <a:t>Outward Products Details table:</a:t>
            </a:r>
            <a:endParaRPr lang="en-IN" dirty="0"/>
          </a:p>
        </p:txBody>
      </p:sp>
      <p:graphicFrame>
        <p:nvGraphicFramePr>
          <p:cNvPr id="4" name="Content Placeholder 3">
            <a:extLst>
              <a:ext uri="{FF2B5EF4-FFF2-40B4-BE49-F238E27FC236}">
                <a16:creationId xmlns:a16="http://schemas.microsoft.com/office/drawing/2014/main" xmlns="" id="{49B5F96B-23D9-4C63-A0A9-6080937A8DA3}"/>
              </a:ext>
            </a:extLst>
          </p:cNvPr>
          <p:cNvGraphicFramePr>
            <a:graphicFrameLocks noGrp="1"/>
          </p:cNvGraphicFramePr>
          <p:nvPr>
            <p:ph idx="1"/>
            <p:extLst>
              <p:ext uri="{D42A27DB-BD31-4B8C-83A1-F6EECF244321}">
                <p14:modId xmlns:p14="http://schemas.microsoft.com/office/powerpoint/2010/main" xmlns="" val="3457212584"/>
              </p:ext>
            </p:extLst>
          </p:nvPr>
        </p:nvGraphicFramePr>
        <p:xfrm>
          <a:off x="1104900" y="1600200"/>
          <a:ext cx="9980682" cy="4609688"/>
        </p:xfrm>
        <a:graphic>
          <a:graphicData uri="http://schemas.openxmlformats.org/drawingml/2006/table">
            <a:tbl>
              <a:tblPr firstRow="1" firstCol="1" bandRow="1">
                <a:tableStyleId>{5C22544A-7EE6-4342-B048-85BDC9FD1C3A}</a:tableStyleId>
              </a:tblPr>
              <a:tblGrid>
                <a:gridCol w="883058">
                  <a:extLst>
                    <a:ext uri="{9D8B030D-6E8A-4147-A177-3AD203B41FA5}">
                      <a16:colId xmlns:a16="http://schemas.microsoft.com/office/drawing/2014/main" xmlns="" val="3474288749"/>
                    </a:ext>
                  </a:extLst>
                </a:gridCol>
                <a:gridCol w="2895033">
                  <a:extLst>
                    <a:ext uri="{9D8B030D-6E8A-4147-A177-3AD203B41FA5}">
                      <a16:colId xmlns:a16="http://schemas.microsoft.com/office/drawing/2014/main" xmlns="" val="1320305885"/>
                    </a:ext>
                  </a:extLst>
                </a:gridCol>
                <a:gridCol w="2848993">
                  <a:extLst>
                    <a:ext uri="{9D8B030D-6E8A-4147-A177-3AD203B41FA5}">
                      <a16:colId xmlns:a16="http://schemas.microsoft.com/office/drawing/2014/main" xmlns="" val="856144069"/>
                    </a:ext>
                  </a:extLst>
                </a:gridCol>
                <a:gridCol w="1593926">
                  <a:extLst>
                    <a:ext uri="{9D8B030D-6E8A-4147-A177-3AD203B41FA5}">
                      <a16:colId xmlns:a16="http://schemas.microsoft.com/office/drawing/2014/main" xmlns="" val="2778002060"/>
                    </a:ext>
                  </a:extLst>
                </a:gridCol>
                <a:gridCol w="1759672">
                  <a:extLst>
                    <a:ext uri="{9D8B030D-6E8A-4147-A177-3AD203B41FA5}">
                      <a16:colId xmlns:a16="http://schemas.microsoft.com/office/drawing/2014/main" xmlns="" val="4239593277"/>
                    </a:ext>
                  </a:extLst>
                </a:gridCol>
              </a:tblGrid>
              <a:tr h="231556">
                <a:tc>
                  <a:txBody>
                    <a:bodyPr/>
                    <a:lstStyle/>
                    <a:p>
                      <a:pPr algn="ctr">
                        <a:lnSpc>
                          <a:spcPct val="115000"/>
                        </a:lnSpc>
                        <a:spcAft>
                          <a:spcPts val="0"/>
                        </a:spcAft>
                      </a:pPr>
                      <a:r>
                        <a:rPr lang="en-IN" sz="1400" dirty="0" err="1">
                          <a:effectLst/>
                        </a:rPr>
                        <a:t>S.No</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Field</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Type</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Constraint</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Description</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extLst>
                  <a:ext uri="{0D108BD9-81ED-4DB2-BD59-A6C34878D82A}">
                    <a16:rowId xmlns:a16="http://schemas.microsoft.com/office/drawing/2014/main" xmlns="" val="681762725"/>
                  </a:ext>
                </a:extLst>
              </a:tr>
              <a:tr h="726020">
                <a:tc>
                  <a:txBody>
                    <a:bodyPr/>
                    <a:lstStyle/>
                    <a:p>
                      <a:pPr algn="ctr">
                        <a:lnSpc>
                          <a:spcPct val="115000"/>
                        </a:lnSpc>
                        <a:spcAft>
                          <a:spcPts val="0"/>
                        </a:spcAft>
                      </a:pPr>
                      <a:r>
                        <a:rPr lang="en-IN" sz="1400">
                          <a:effectLst/>
                        </a:rPr>
                        <a:t>1.</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Out_Prod_ID</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dirty="0">
                          <a:effectLst/>
                        </a:rPr>
                        <a:t>int</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Primary Key</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Outgoing Product ID</a:t>
                      </a:r>
                      <a:endParaRPr lang="en-US" sz="1000">
                        <a:effectLst/>
                      </a:endParaRPr>
                    </a:p>
                    <a:p>
                      <a:pPr algn="ctr">
                        <a:lnSpc>
                          <a:spcPct val="115000"/>
                        </a:lnSpc>
                        <a:spcAft>
                          <a:spcPts val="0"/>
                        </a:spcAft>
                      </a:pPr>
                      <a:r>
                        <a:rPr lang="en-IN" sz="1400">
                          <a:effectLst/>
                        </a:rPr>
                        <a:t> </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extLst>
                  <a:ext uri="{0D108BD9-81ED-4DB2-BD59-A6C34878D82A}">
                    <a16:rowId xmlns:a16="http://schemas.microsoft.com/office/drawing/2014/main" xmlns="" val="3216259932"/>
                  </a:ext>
                </a:extLst>
              </a:tr>
              <a:tr h="478788">
                <a:tc>
                  <a:txBody>
                    <a:bodyPr/>
                    <a:lstStyle/>
                    <a:p>
                      <a:pPr algn="ctr">
                        <a:lnSpc>
                          <a:spcPct val="115000"/>
                        </a:lnSpc>
                        <a:spcAft>
                          <a:spcPts val="0"/>
                        </a:spcAft>
                      </a:pPr>
                      <a:r>
                        <a:rPr lang="en-IN" sz="1400">
                          <a:effectLst/>
                        </a:rPr>
                        <a:t>2.</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Out_Prod_Date</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Date</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dirty="0">
                          <a:effectLst/>
                        </a:rPr>
                        <a:t>Not Null</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Outgoing Product Date</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extLst>
                  <a:ext uri="{0D108BD9-81ED-4DB2-BD59-A6C34878D82A}">
                    <a16:rowId xmlns:a16="http://schemas.microsoft.com/office/drawing/2014/main" xmlns="" val="298233181"/>
                  </a:ext>
                </a:extLst>
              </a:tr>
              <a:tr h="726020">
                <a:tc>
                  <a:txBody>
                    <a:bodyPr/>
                    <a:lstStyle/>
                    <a:p>
                      <a:pPr algn="ctr">
                        <a:lnSpc>
                          <a:spcPct val="115000"/>
                        </a:lnSpc>
                        <a:spcAft>
                          <a:spcPts val="0"/>
                        </a:spcAft>
                      </a:pPr>
                      <a:r>
                        <a:rPr lang="en-IN" sz="1400">
                          <a:effectLst/>
                        </a:rPr>
                        <a:t>3.</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dirty="0" err="1">
                          <a:effectLst/>
                        </a:rPr>
                        <a:t>Out_Prod_ID</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varchar(50)</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Not Null</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dirty="0">
                          <a:effectLst/>
                        </a:rPr>
                        <a:t>Outgoing Product ID</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extLst>
                  <a:ext uri="{0D108BD9-81ED-4DB2-BD59-A6C34878D82A}">
                    <a16:rowId xmlns:a16="http://schemas.microsoft.com/office/drawing/2014/main" xmlns="" val="3552560280"/>
                  </a:ext>
                </a:extLst>
              </a:tr>
              <a:tr h="478788">
                <a:tc>
                  <a:txBody>
                    <a:bodyPr/>
                    <a:lstStyle/>
                    <a:p>
                      <a:pPr algn="ctr">
                        <a:lnSpc>
                          <a:spcPct val="115000"/>
                        </a:lnSpc>
                        <a:spcAft>
                          <a:spcPts val="0"/>
                        </a:spcAft>
                      </a:pPr>
                      <a:r>
                        <a:rPr lang="en-IN" sz="1400">
                          <a:effectLst/>
                        </a:rPr>
                        <a:t>4.</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Out_Prod_Cost</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dirty="0">
                          <a:effectLst/>
                        </a:rPr>
                        <a:t>money</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Not Null</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Outgoing Product Cost</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extLst>
                  <a:ext uri="{0D108BD9-81ED-4DB2-BD59-A6C34878D82A}">
                    <a16:rowId xmlns:a16="http://schemas.microsoft.com/office/drawing/2014/main" xmlns="" val="606162893"/>
                  </a:ext>
                </a:extLst>
              </a:tr>
              <a:tr h="726020">
                <a:tc>
                  <a:txBody>
                    <a:bodyPr/>
                    <a:lstStyle/>
                    <a:p>
                      <a:pPr algn="ctr">
                        <a:lnSpc>
                          <a:spcPct val="115000"/>
                        </a:lnSpc>
                        <a:spcAft>
                          <a:spcPts val="0"/>
                        </a:spcAft>
                      </a:pPr>
                      <a:r>
                        <a:rPr lang="en-IN" sz="1400">
                          <a:effectLst/>
                        </a:rPr>
                        <a:t>5.</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Out_Prod_Quantity</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dirty="0">
                          <a:effectLst/>
                        </a:rPr>
                        <a:t>int</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Not Null</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Outgoing Product Quantity</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extLst>
                  <a:ext uri="{0D108BD9-81ED-4DB2-BD59-A6C34878D82A}">
                    <a16:rowId xmlns:a16="http://schemas.microsoft.com/office/drawing/2014/main" xmlns="" val="906498897"/>
                  </a:ext>
                </a:extLst>
              </a:tr>
              <a:tr h="726020">
                <a:tc>
                  <a:txBody>
                    <a:bodyPr/>
                    <a:lstStyle/>
                    <a:p>
                      <a:pPr algn="ctr">
                        <a:lnSpc>
                          <a:spcPct val="115000"/>
                        </a:lnSpc>
                        <a:spcAft>
                          <a:spcPts val="0"/>
                        </a:spcAft>
                      </a:pPr>
                      <a:r>
                        <a:rPr lang="en-IN" sz="1400">
                          <a:effectLst/>
                        </a:rPr>
                        <a:t>6.</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Out_Prod_Location</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varchar(50)</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Not Null</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Outgoing Product Location</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extLst>
                  <a:ext uri="{0D108BD9-81ED-4DB2-BD59-A6C34878D82A}">
                    <a16:rowId xmlns:a16="http://schemas.microsoft.com/office/drawing/2014/main" xmlns="" val="3480441093"/>
                  </a:ext>
                </a:extLst>
              </a:tr>
              <a:tr h="478788">
                <a:tc>
                  <a:txBody>
                    <a:bodyPr/>
                    <a:lstStyle/>
                    <a:p>
                      <a:pPr algn="ctr">
                        <a:lnSpc>
                          <a:spcPct val="115000"/>
                        </a:lnSpc>
                        <a:spcAft>
                          <a:spcPts val="0"/>
                        </a:spcAft>
                      </a:pPr>
                      <a:r>
                        <a:rPr lang="en-IN" sz="1400">
                          <a:effectLst/>
                        </a:rPr>
                        <a:t>7.</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dirty="0">
                          <a:effectLst/>
                        </a:rPr>
                        <a:t>Customer ID</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dirty="0">
                          <a:effectLst/>
                        </a:rPr>
                        <a:t>int</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a:effectLst/>
                        </a:rPr>
                        <a:t>Foreign Key</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tc>
                  <a:txBody>
                    <a:bodyPr/>
                    <a:lstStyle/>
                    <a:p>
                      <a:pPr algn="ctr">
                        <a:lnSpc>
                          <a:spcPct val="115000"/>
                        </a:lnSpc>
                        <a:spcAft>
                          <a:spcPts val="0"/>
                        </a:spcAft>
                      </a:pPr>
                      <a:r>
                        <a:rPr lang="en-IN" sz="1400" dirty="0">
                          <a:effectLst/>
                        </a:rPr>
                        <a:t>Customer ID</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0464" marR="60464" marT="0" marB="0"/>
                </a:tc>
                <a:extLst>
                  <a:ext uri="{0D108BD9-81ED-4DB2-BD59-A6C34878D82A}">
                    <a16:rowId xmlns:a16="http://schemas.microsoft.com/office/drawing/2014/main" xmlns="" val="950328974"/>
                  </a:ext>
                </a:extLst>
              </a:tr>
            </a:tbl>
          </a:graphicData>
        </a:graphic>
      </p:graphicFrame>
    </p:spTree>
    <p:extLst>
      <p:ext uri="{BB962C8B-B14F-4D97-AF65-F5344CB8AC3E}">
        <p14:creationId xmlns:p14="http://schemas.microsoft.com/office/powerpoint/2010/main" xmlns="" val="8954471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6BAEB0-F2E6-444C-8D2E-4F668254CB80}"/>
              </a:ext>
            </a:extLst>
          </p:cNvPr>
          <p:cNvSpPr>
            <a:spLocks noGrp="1"/>
          </p:cNvSpPr>
          <p:nvPr>
            <p:ph type="title"/>
          </p:nvPr>
        </p:nvSpPr>
        <p:spPr/>
        <p:txBody>
          <a:bodyPr/>
          <a:lstStyle/>
          <a:p>
            <a:r>
              <a:rPr lang="en-US" b="1" u="sng" dirty="0"/>
              <a:t>Payment Details table:</a:t>
            </a:r>
            <a:endParaRPr lang="en-IN" b="1" u="sng" dirty="0"/>
          </a:p>
        </p:txBody>
      </p:sp>
      <p:graphicFrame>
        <p:nvGraphicFramePr>
          <p:cNvPr id="11" name="Content Placeholder 10">
            <a:extLst>
              <a:ext uri="{FF2B5EF4-FFF2-40B4-BE49-F238E27FC236}">
                <a16:creationId xmlns:a16="http://schemas.microsoft.com/office/drawing/2014/main" xmlns="" id="{4A4C7CCA-0D43-4FA0-B4B5-FAFB1882D6C2}"/>
              </a:ext>
            </a:extLst>
          </p:cNvPr>
          <p:cNvGraphicFramePr>
            <a:graphicFrameLocks noGrp="1"/>
          </p:cNvGraphicFramePr>
          <p:nvPr>
            <p:ph idx="1"/>
            <p:extLst>
              <p:ext uri="{D42A27DB-BD31-4B8C-83A1-F6EECF244321}">
                <p14:modId xmlns:p14="http://schemas.microsoft.com/office/powerpoint/2010/main" xmlns="" val="639391423"/>
              </p:ext>
            </p:extLst>
          </p:nvPr>
        </p:nvGraphicFramePr>
        <p:xfrm>
          <a:off x="1104900" y="1485900"/>
          <a:ext cx="9980682" cy="5392865"/>
        </p:xfrm>
        <a:graphic>
          <a:graphicData uri="http://schemas.openxmlformats.org/drawingml/2006/table">
            <a:tbl>
              <a:tblPr firstRow="1" firstCol="1" bandRow="1">
                <a:tableStyleId>{5C22544A-7EE6-4342-B048-85BDC9FD1C3A}</a:tableStyleId>
              </a:tblPr>
              <a:tblGrid>
                <a:gridCol w="1723851">
                  <a:extLst>
                    <a:ext uri="{9D8B030D-6E8A-4147-A177-3AD203B41FA5}">
                      <a16:colId xmlns:a16="http://schemas.microsoft.com/office/drawing/2014/main" xmlns="" val="3761172720"/>
                    </a:ext>
                  </a:extLst>
                </a:gridCol>
                <a:gridCol w="1772176">
                  <a:extLst>
                    <a:ext uri="{9D8B030D-6E8A-4147-A177-3AD203B41FA5}">
                      <a16:colId xmlns:a16="http://schemas.microsoft.com/office/drawing/2014/main" xmlns="" val="3481271086"/>
                    </a:ext>
                  </a:extLst>
                </a:gridCol>
                <a:gridCol w="1854882">
                  <a:extLst>
                    <a:ext uri="{9D8B030D-6E8A-4147-A177-3AD203B41FA5}">
                      <a16:colId xmlns:a16="http://schemas.microsoft.com/office/drawing/2014/main" xmlns="" val="1532634604"/>
                    </a:ext>
                  </a:extLst>
                </a:gridCol>
                <a:gridCol w="1768458">
                  <a:extLst>
                    <a:ext uri="{9D8B030D-6E8A-4147-A177-3AD203B41FA5}">
                      <a16:colId xmlns:a16="http://schemas.microsoft.com/office/drawing/2014/main" xmlns="" val="60498075"/>
                    </a:ext>
                  </a:extLst>
                </a:gridCol>
                <a:gridCol w="2861315">
                  <a:extLst>
                    <a:ext uri="{9D8B030D-6E8A-4147-A177-3AD203B41FA5}">
                      <a16:colId xmlns:a16="http://schemas.microsoft.com/office/drawing/2014/main" xmlns="" val="3952431219"/>
                    </a:ext>
                  </a:extLst>
                </a:gridCol>
              </a:tblGrid>
              <a:tr h="289034">
                <a:tc>
                  <a:txBody>
                    <a:bodyPr/>
                    <a:lstStyle/>
                    <a:p>
                      <a:pPr algn="ctr">
                        <a:lnSpc>
                          <a:spcPct val="115000"/>
                        </a:lnSpc>
                        <a:spcAft>
                          <a:spcPts val="0"/>
                        </a:spcAft>
                      </a:pPr>
                      <a:r>
                        <a:rPr lang="en-IN" sz="1600">
                          <a:effectLst/>
                        </a:rPr>
                        <a:t>S.No</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Field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Type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Constraint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Description</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189578224"/>
                  </a:ext>
                </a:extLst>
              </a:tr>
              <a:tr h="599207">
                <a:tc>
                  <a:txBody>
                    <a:bodyPr/>
                    <a:lstStyle/>
                    <a:p>
                      <a:pPr algn="ctr">
                        <a:lnSpc>
                          <a:spcPct val="115000"/>
                        </a:lnSpc>
                        <a:spcAft>
                          <a:spcPts val="0"/>
                        </a:spcAft>
                      </a:pPr>
                      <a:r>
                        <a:rPr lang="en-IN" sz="16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Payment ID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varchar(50)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Primary Key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Payment ID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567287263"/>
                  </a:ext>
                </a:extLst>
              </a:tr>
              <a:tr h="599207">
                <a:tc>
                  <a:txBody>
                    <a:bodyPr/>
                    <a:lstStyle/>
                    <a:p>
                      <a:pPr algn="ctr">
                        <a:lnSpc>
                          <a:spcPct val="115000"/>
                        </a:lnSpc>
                        <a:spcAft>
                          <a:spcPts val="0"/>
                        </a:spcAft>
                      </a:pPr>
                      <a:r>
                        <a:rPr lang="en-IN" sz="16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15000"/>
                        </a:lnSpc>
                        <a:spcAft>
                          <a:spcPts val="0"/>
                        </a:spcAft>
                      </a:pPr>
                      <a:r>
                        <a:rPr lang="en-IN" sz="1600">
                          <a:effectLst/>
                        </a:rPr>
                        <a:t>PaymenType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varchar(50)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Not 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Payment Type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36068841"/>
                  </a:ext>
                </a:extLst>
              </a:tr>
              <a:tr h="599207">
                <a:tc>
                  <a:txBody>
                    <a:bodyPr/>
                    <a:lstStyle/>
                    <a:p>
                      <a:pPr algn="ctr">
                        <a:lnSpc>
                          <a:spcPct val="115000"/>
                        </a:lnSpc>
                        <a:spcAft>
                          <a:spcPts val="0"/>
                        </a:spcAft>
                      </a:pPr>
                      <a:r>
                        <a:rPr lang="en-IN" sz="16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PaymentAmount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money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Not 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Payment Amount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563561123"/>
                  </a:ext>
                </a:extLst>
              </a:tr>
              <a:tr h="599207">
                <a:tc>
                  <a:txBody>
                    <a:bodyPr/>
                    <a:lstStyle/>
                    <a:p>
                      <a:pPr algn="ctr">
                        <a:lnSpc>
                          <a:spcPct val="115000"/>
                        </a:lnSpc>
                        <a:spcAft>
                          <a:spcPts val="0"/>
                        </a:spcAft>
                      </a:pPr>
                      <a:r>
                        <a:rPr lang="en-IN" sz="16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PaymentDate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Date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Not 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Payment Date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159812072"/>
                  </a:ext>
                </a:extLst>
              </a:tr>
              <a:tr h="599207">
                <a:tc>
                  <a:txBody>
                    <a:bodyPr/>
                    <a:lstStyle/>
                    <a:p>
                      <a:pPr algn="ctr">
                        <a:lnSpc>
                          <a:spcPct val="115000"/>
                        </a:lnSpc>
                        <a:spcAft>
                          <a:spcPts val="0"/>
                        </a:spcAft>
                      </a:pPr>
                      <a:r>
                        <a:rPr lang="en-IN" sz="1600">
                          <a:effectLst/>
                        </a:rPr>
                        <a:t>6.</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PaymentTime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Time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Not 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Payment Time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750770756"/>
                  </a:ext>
                </a:extLst>
              </a:tr>
              <a:tr h="599207">
                <a:tc>
                  <a:txBody>
                    <a:bodyPr/>
                    <a:lstStyle/>
                    <a:p>
                      <a:pPr algn="ctr">
                        <a:lnSpc>
                          <a:spcPct val="115000"/>
                        </a:lnSpc>
                        <a:spcAft>
                          <a:spcPts val="0"/>
                        </a:spcAft>
                      </a:pPr>
                      <a:r>
                        <a:rPr lang="en-IN" sz="1600">
                          <a:effectLst/>
                        </a:rPr>
                        <a:t>7.</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CustomerID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int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Foreign Key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Customer ID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4066818011"/>
                  </a:ext>
                </a:extLst>
              </a:tr>
              <a:tr h="909382">
                <a:tc>
                  <a:txBody>
                    <a:bodyPr/>
                    <a:lstStyle/>
                    <a:p>
                      <a:pPr algn="ctr">
                        <a:lnSpc>
                          <a:spcPct val="115000"/>
                        </a:lnSpc>
                        <a:spcAft>
                          <a:spcPts val="0"/>
                        </a:spcAft>
                      </a:pPr>
                      <a:r>
                        <a:rPr lang="en-IN" sz="1600">
                          <a:effectLst/>
                        </a:rPr>
                        <a:t>8.</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15000"/>
                        </a:lnSpc>
                        <a:spcAft>
                          <a:spcPts val="0"/>
                        </a:spcAft>
                        <a:tabLst>
                          <a:tab pos="266700" algn="l"/>
                        </a:tabLst>
                      </a:pPr>
                      <a:r>
                        <a:rPr lang="en-IN" sz="1600">
                          <a:effectLst/>
                        </a:rPr>
                        <a:t>	</a:t>
                      </a:r>
                      <a:r>
                        <a:rPr lang="en-IN" sz="1100">
                          <a:effectLst/>
                        </a:rPr>
                        <a:t> </a:t>
                      </a:r>
                      <a:r>
                        <a:rPr lang="en-IN" sz="1600">
                          <a:effectLst/>
                        </a:rPr>
                        <a:t>PaymentAdvance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money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15000"/>
                        </a:lnSpc>
                        <a:spcAft>
                          <a:spcPts val="0"/>
                        </a:spcAft>
                      </a:pPr>
                      <a:r>
                        <a:rPr lang="en-IN" sz="1600" dirty="0">
                          <a:effectLst/>
                        </a:rPr>
                        <a:t>       Null</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Amount paid in advance</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401164178"/>
                  </a:ext>
                </a:extLst>
              </a:tr>
              <a:tr h="599207">
                <a:tc>
                  <a:txBody>
                    <a:bodyPr/>
                    <a:lstStyle/>
                    <a:p>
                      <a:pPr algn="ctr">
                        <a:lnSpc>
                          <a:spcPct val="115000"/>
                        </a:lnSpc>
                        <a:spcAft>
                          <a:spcPts val="0"/>
                        </a:spcAft>
                      </a:pPr>
                      <a:r>
                        <a:rPr lang="en-IN" sz="1600">
                          <a:effectLst/>
                        </a:rPr>
                        <a:t>9.</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15000"/>
                        </a:lnSpc>
                        <a:spcAft>
                          <a:spcPts val="0"/>
                        </a:spcAft>
                        <a:tabLst>
                          <a:tab pos="266700" algn="l"/>
                        </a:tabLst>
                      </a:pPr>
                      <a:r>
                        <a:rPr lang="en-IN" sz="1600">
                          <a:effectLst/>
                        </a:rPr>
                        <a:t>PaymentDue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money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Amount to be paid</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809675610"/>
                  </a:ext>
                </a:extLst>
              </a:tr>
            </a:tbl>
          </a:graphicData>
        </a:graphic>
      </p:graphicFrame>
    </p:spTree>
    <p:extLst>
      <p:ext uri="{BB962C8B-B14F-4D97-AF65-F5344CB8AC3E}">
        <p14:creationId xmlns:p14="http://schemas.microsoft.com/office/powerpoint/2010/main" xmlns="" val="10549021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0AD342-DF26-45B5-98B4-4B05D0157C3A}"/>
              </a:ext>
            </a:extLst>
          </p:cNvPr>
          <p:cNvSpPr>
            <a:spLocks noGrp="1"/>
          </p:cNvSpPr>
          <p:nvPr>
            <p:ph type="title"/>
          </p:nvPr>
        </p:nvSpPr>
        <p:spPr/>
        <p:txBody>
          <a:bodyPr/>
          <a:lstStyle/>
          <a:p>
            <a:r>
              <a:rPr lang="en-US" b="1" u="sng" dirty="0"/>
              <a:t>Invoice details:</a:t>
            </a:r>
            <a:endParaRPr lang="en-IN" b="1" u="sng" dirty="0"/>
          </a:p>
        </p:txBody>
      </p:sp>
      <p:graphicFrame>
        <p:nvGraphicFramePr>
          <p:cNvPr id="4" name="Content Placeholder 3">
            <a:extLst>
              <a:ext uri="{FF2B5EF4-FFF2-40B4-BE49-F238E27FC236}">
                <a16:creationId xmlns:a16="http://schemas.microsoft.com/office/drawing/2014/main" xmlns="" id="{1C93EEED-EC3B-4AB1-B3DC-8927991229A3}"/>
              </a:ext>
            </a:extLst>
          </p:cNvPr>
          <p:cNvGraphicFramePr>
            <a:graphicFrameLocks noGrp="1"/>
          </p:cNvGraphicFramePr>
          <p:nvPr>
            <p:ph idx="1"/>
            <p:extLst>
              <p:ext uri="{D42A27DB-BD31-4B8C-83A1-F6EECF244321}">
                <p14:modId xmlns:p14="http://schemas.microsoft.com/office/powerpoint/2010/main" xmlns="" val="890961775"/>
              </p:ext>
            </p:extLst>
          </p:nvPr>
        </p:nvGraphicFramePr>
        <p:xfrm>
          <a:off x="1104900" y="1438275"/>
          <a:ext cx="9980681" cy="4749677"/>
        </p:xfrm>
        <a:graphic>
          <a:graphicData uri="http://schemas.openxmlformats.org/drawingml/2006/table">
            <a:tbl>
              <a:tblPr firstRow="1" firstCol="1" bandRow="1">
                <a:tableStyleId>{5C22544A-7EE6-4342-B048-85BDC9FD1C3A}</a:tableStyleId>
              </a:tblPr>
              <a:tblGrid>
                <a:gridCol w="877259">
                  <a:extLst>
                    <a:ext uri="{9D8B030D-6E8A-4147-A177-3AD203B41FA5}">
                      <a16:colId xmlns:a16="http://schemas.microsoft.com/office/drawing/2014/main" xmlns="" val="3653171801"/>
                    </a:ext>
                  </a:extLst>
                </a:gridCol>
                <a:gridCol w="2911497">
                  <a:extLst>
                    <a:ext uri="{9D8B030D-6E8A-4147-A177-3AD203B41FA5}">
                      <a16:colId xmlns:a16="http://schemas.microsoft.com/office/drawing/2014/main" xmlns="" val="2602144106"/>
                    </a:ext>
                  </a:extLst>
                </a:gridCol>
                <a:gridCol w="1976621">
                  <a:extLst>
                    <a:ext uri="{9D8B030D-6E8A-4147-A177-3AD203B41FA5}">
                      <a16:colId xmlns:a16="http://schemas.microsoft.com/office/drawing/2014/main" xmlns="" val="3219788955"/>
                    </a:ext>
                  </a:extLst>
                </a:gridCol>
                <a:gridCol w="1711770">
                  <a:extLst>
                    <a:ext uri="{9D8B030D-6E8A-4147-A177-3AD203B41FA5}">
                      <a16:colId xmlns:a16="http://schemas.microsoft.com/office/drawing/2014/main" xmlns="" val="1321683723"/>
                    </a:ext>
                  </a:extLst>
                </a:gridCol>
                <a:gridCol w="2503534">
                  <a:extLst>
                    <a:ext uri="{9D8B030D-6E8A-4147-A177-3AD203B41FA5}">
                      <a16:colId xmlns:a16="http://schemas.microsoft.com/office/drawing/2014/main" xmlns="" val="1035111161"/>
                    </a:ext>
                  </a:extLst>
                </a:gridCol>
              </a:tblGrid>
              <a:tr h="306194">
                <a:tc>
                  <a:txBody>
                    <a:bodyPr/>
                    <a:lstStyle/>
                    <a:p>
                      <a:pPr algn="ctr">
                        <a:lnSpc>
                          <a:spcPct val="115000"/>
                        </a:lnSpc>
                        <a:spcAft>
                          <a:spcPts val="0"/>
                        </a:spcAft>
                      </a:pPr>
                      <a:r>
                        <a:rPr lang="en-IN" sz="1600">
                          <a:effectLst/>
                        </a:rPr>
                        <a:t>S.No</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Field</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Type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Constraint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Description</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545855564"/>
                  </a:ext>
                </a:extLst>
              </a:tr>
              <a:tr h="634783">
                <a:tc>
                  <a:txBody>
                    <a:bodyPr/>
                    <a:lstStyle/>
                    <a:p>
                      <a:pPr algn="ctr">
                        <a:lnSpc>
                          <a:spcPct val="115000"/>
                        </a:lnSpc>
                        <a:spcAft>
                          <a:spcPts val="0"/>
                        </a:spcAft>
                      </a:pPr>
                      <a:r>
                        <a:rPr lang="en-IN" sz="16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Bill Number</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varchar(50)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Primary Key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Invoice ID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886430702"/>
                  </a:ext>
                </a:extLst>
              </a:tr>
              <a:tr h="306194">
                <a:tc>
                  <a:txBody>
                    <a:bodyPr/>
                    <a:lstStyle/>
                    <a:p>
                      <a:pPr algn="ctr">
                        <a:lnSpc>
                          <a:spcPct val="115000"/>
                        </a:lnSpc>
                        <a:spcAft>
                          <a:spcPts val="0"/>
                        </a:spcAft>
                      </a:pPr>
                      <a:r>
                        <a:rPr lang="en-IN" sz="16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Cstomer ID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varchar(50)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Not 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Customer ID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830013312"/>
                  </a:ext>
                </a:extLst>
              </a:tr>
              <a:tr h="634783">
                <a:tc>
                  <a:txBody>
                    <a:bodyPr/>
                    <a:lstStyle/>
                    <a:p>
                      <a:pPr algn="ctr">
                        <a:lnSpc>
                          <a:spcPct val="115000"/>
                        </a:lnSpc>
                        <a:spcAft>
                          <a:spcPts val="0"/>
                        </a:spcAft>
                      </a:pPr>
                      <a:r>
                        <a:rPr lang="en-IN" sz="16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Outward Product ID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varchar(50)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Foreign Key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Outgoing Product ID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632466526"/>
                  </a:ext>
                </a:extLst>
              </a:tr>
              <a:tr h="634783">
                <a:tc>
                  <a:txBody>
                    <a:bodyPr/>
                    <a:lstStyle/>
                    <a:p>
                      <a:pPr algn="ctr">
                        <a:lnSpc>
                          <a:spcPct val="115000"/>
                        </a:lnSpc>
                        <a:spcAft>
                          <a:spcPts val="0"/>
                        </a:spcAft>
                      </a:pPr>
                      <a:r>
                        <a:rPr lang="en-IN" sz="1600">
                          <a:effectLst/>
                        </a:rPr>
                        <a:t>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Payment ID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varchar(50)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Foreign Key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Payment ID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467031944"/>
                  </a:ext>
                </a:extLst>
              </a:tr>
              <a:tr h="963374">
                <a:tc>
                  <a:txBody>
                    <a:bodyPr/>
                    <a:lstStyle/>
                    <a:p>
                      <a:pPr algn="ctr">
                        <a:lnSpc>
                          <a:spcPct val="115000"/>
                        </a:lnSpc>
                        <a:spcAft>
                          <a:spcPts val="0"/>
                        </a:spcAft>
                      </a:pPr>
                      <a:r>
                        <a:rPr lang="en-IN" sz="16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Outward Product Quantity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Number(10)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Not 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Outgoing Product Quantity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111259735"/>
                  </a:ext>
                </a:extLst>
              </a:tr>
              <a:tr h="634783">
                <a:tc>
                  <a:txBody>
                    <a:bodyPr/>
                    <a:lstStyle/>
                    <a:p>
                      <a:pPr algn="ctr">
                        <a:lnSpc>
                          <a:spcPct val="115000"/>
                        </a:lnSpc>
                        <a:spcAft>
                          <a:spcPts val="0"/>
                        </a:spcAft>
                      </a:pPr>
                      <a:r>
                        <a:rPr lang="en-IN" sz="1600">
                          <a:effectLst/>
                        </a:rPr>
                        <a:t>8.</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Date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Date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Not 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Invoice Generated Date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400524717"/>
                  </a:ext>
                </a:extLst>
              </a:tr>
              <a:tr h="634783">
                <a:tc>
                  <a:txBody>
                    <a:bodyPr/>
                    <a:lstStyle/>
                    <a:p>
                      <a:pPr algn="ctr">
                        <a:lnSpc>
                          <a:spcPct val="115000"/>
                        </a:lnSpc>
                        <a:spcAft>
                          <a:spcPts val="0"/>
                        </a:spcAft>
                      </a:pPr>
                      <a:r>
                        <a:rPr lang="en-IN" sz="1600">
                          <a:effectLst/>
                        </a:rPr>
                        <a:t>9.</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Time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Time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Not 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Invoice Generated Time</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669352151"/>
                  </a:ext>
                </a:extLst>
              </a:tr>
            </a:tbl>
          </a:graphicData>
        </a:graphic>
      </p:graphicFrame>
    </p:spTree>
    <p:extLst>
      <p:ext uri="{BB962C8B-B14F-4D97-AF65-F5344CB8AC3E}">
        <p14:creationId xmlns:p14="http://schemas.microsoft.com/office/powerpoint/2010/main" xmlns="" val="5540568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55C2FA-D602-4CDA-B777-C439260D9103}"/>
              </a:ext>
            </a:extLst>
          </p:cNvPr>
          <p:cNvSpPr>
            <a:spLocks noGrp="1"/>
          </p:cNvSpPr>
          <p:nvPr>
            <p:ph type="title"/>
          </p:nvPr>
        </p:nvSpPr>
        <p:spPr/>
        <p:txBody>
          <a:bodyPr/>
          <a:lstStyle/>
          <a:p>
            <a:r>
              <a:rPr lang="en-US" b="1" u="sng" dirty="0"/>
              <a:t>Customer Loan details:</a:t>
            </a:r>
            <a:endParaRPr lang="en-IN" b="1" u="sng" dirty="0"/>
          </a:p>
        </p:txBody>
      </p:sp>
      <p:graphicFrame>
        <p:nvGraphicFramePr>
          <p:cNvPr id="4" name="Content Placeholder 3">
            <a:extLst>
              <a:ext uri="{FF2B5EF4-FFF2-40B4-BE49-F238E27FC236}">
                <a16:creationId xmlns:a16="http://schemas.microsoft.com/office/drawing/2014/main" xmlns="" id="{B88A0484-6999-4AAD-9549-B6CEA8B7DB66}"/>
              </a:ext>
            </a:extLst>
          </p:cNvPr>
          <p:cNvGraphicFramePr>
            <a:graphicFrameLocks noGrp="1"/>
          </p:cNvGraphicFramePr>
          <p:nvPr>
            <p:ph idx="1"/>
            <p:extLst>
              <p:ext uri="{D42A27DB-BD31-4B8C-83A1-F6EECF244321}">
                <p14:modId xmlns:p14="http://schemas.microsoft.com/office/powerpoint/2010/main" xmlns="" val="1508010413"/>
              </p:ext>
            </p:extLst>
          </p:nvPr>
        </p:nvGraphicFramePr>
        <p:xfrm>
          <a:off x="1104899" y="1504950"/>
          <a:ext cx="9980681" cy="4542795"/>
        </p:xfrm>
        <a:graphic>
          <a:graphicData uri="http://schemas.openxmlformats.org/drawingml/2006/table">
            <a:tbl>
              <a:tblPr firstRow="1" firstCol="1" bandRow="1">
                <a:tableStyleId>{5C22544A-7EE6-4342-B048-85BDC9FD1C3A}</a:tableStyleId>
              </a:tblPr>
              <a:tblGrid>
                <a:gridCol w="880047">
                  <a:extLst>
                    <a:ext uri="{9D8B030D-6E8A-4147-A177-3AD203B41FA5}">
                      <a16:colId xmlns:a16="http://schemas.microsoft.com/office/drawing/2014/main" xmlns="" val="3523689814"/>
                    </a:ext>
                  </a:extLst>
                </a:gridCol>
                <a:gridCol w="2988629">
                  <a:extLst>
                    <a:ext uri="{9D8B030D-6E8A-4147-A177-3AD203B41FA5}">
                      <a16:colId xmlns:a16="http://schemas.microsoft.com/office/drawing/2014/main" xmlns="" val="863240413"/>
                    </a:ext>
                  </a:extLst>
                </a:gridCol>
                <a:gridCol w="1854882">
                  <a:extLst>
                    <a:ext uri="{9D8B030D-6E8A-4147-A177-3AD203B41FA5}">
                      <a16:colId xmlns:a16="http://schemas.microsoft.com/office/drawing/2014/main" xmlns="" val="2415990035"/>
                    </a:ext>
                  </a:extLst>
                </a:gridCol>
                <a:gridCol w="1594679">
                  <a:extLst>
                    <a:ext uri="{9D8B030D-6E8A-4147-A177-3AD203B41FA5}">
                      <a16:colId xmlns:a16="http://schemas.microsoft.com/office/drawing/2014/main" xmlns="" val="2875698265"/>
                    </a:ext>
                  </a:extLst>
                </a:gridCol>
                <a:gridCol w="2662444">
                  <a:extLst>
                    <a:ext uri="{9D8B030D-6E8A-4147-A177-3AD203B41FA5}">
                      <a16:colId xmlns:a16="http://schemas.microsoft.com/office/drawing/2014/main" xmlns="" val="486605293"/>
                    </a:ext>
                  </a:extLst>
                </a:gridCol>
              </a:tblGrid>
              <a:tr h="607134">
                <a:tc>
                  <a:txBody>
                    <a:bodyPr/>
                    <a:lstStyle/>
                    <a:p>
                      <a:pPr algn="ctr">
                        <a:lnSpc>
                          <a:spcPct val="115000"/>
                        </a:lnSpc>
                        <a:spcAft>
                          <a:spcPts val="0"/>
                        </a:spcAft>
                      </a:pPr>
                      <a:r>
                        <a:rPr lang="en-IN" sz="1600" dirty="0" err="1">
                          <a:effectLst/>
                        </a:rPr>
                        <a:t>S.No</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Field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Type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Constraint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Description</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118578339"/>
                  </a:ext>
                </a:extLst>
              </a:tr>
              <a:tr h="607134">
                <a:tc>
                  <a:txBody>
                    <a:bodyPr/>
                    <a:lstStyle/>
                    <a:p>
                      <a:pPr algn="ctr">
                        <a:lnSpc>
                          <a:spcPct val="115000"/>
                        </a:lnSpc>
                        <a:spcAft>
                          <a:spcPts val="0"/>
                        </a:spcAft>
                      </a:pPr>
                      <a:r>
                        <a:rPr lang="en-IN" sz="1600">
                          <a:effectLst/>
                        </a:rPr>
                        <a:t>1.</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Loan Id</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int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Primary Key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Customer Loan ID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192290369"/>
                  </a:ext>
                </a:extLst>
              </a:tr>
              <a:tr h="607134">
                <a:tc>
                  <a:txBody>
                    <a:bodyPr/>
                    <a:lstStyle/>
                    <a:p>
                      <a:pPr algn="ctr">
                        <a:lnSpc>
                          <a:spcPct val="115000"/>
                        </a:lnSpc>
                        <a:spcAft>
                          <a:spcPts val="0"/>
                        </a:spcAft>
                      </a:pPr>
                      <a:r>
                        <a:rPr lang="en-IN" sz="1600">
                          <a:effectLst/>
                        </a:rPr>
                        <a:t>2.</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Loan Date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Date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Not 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Loan sanctioned date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609641635"/>
                  </a:ext>
                </a:extLst>
              </a:tr>
              <a:tr h="607134">
                <a:tc>
                  <a:txBody>
                    <a:bodyPr/>
                    <a:lstStyle/>
                    <a:p>
                      <a:pPr algn="ctr">
                        <a:lnSpc>
                          <a:spcPct val="115000"/>
                        </a:lnSpc>
                        <a:spcAft>
                          <a:spcPts val="0"/>
                        </a:spcAft>
                      </a:pPr>
                      <a:r>
                        <a:rPr lang="en-IN" sz="1600">
                          <a:effectLst/>
                        </a:rPr>
                        <a:t>3.</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Inward Product ID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int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Foreign Key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Incoming product ID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430590967"/>
                  </a:ext>
                </a:extLst>
              </a:tr>
              <a:tr h="607134">
                <a:tc>
                  <a:txBody>
                    <a:bodyPr/>
                    <a:lstStyle/>
                    <a:p>
                      <a:pPr algn="ctr">
                        <a:lnSpc>
                          <a:spcPct val="115000"/>
                        </a:lnSpc>
                        <a:spcAft>
                          <a:spcPts val="0"/>
                        </a:spcAft>
                      </a:pPr>
                      <a:r>
                        <a:rPr lang="en-IN" sz="1600">
                          <a:effectLst/>
                        </a:rPr>
                        <a:t>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Loan Amount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money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Not 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Loan sanctioned amount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429379902"/>
                  </a:ext>
                </a:extLst>
              </a:tr>
              <a:tr h="607134">
                <a:tc>
                  <a:txBody>
                    <a:bodyPr/>
                    <a:lstStyle/>
                    <a:p>
                      <a:pPr algn="ctr">
                        <a:lnSpc>
                          <a:spcPct val="115000"/>
                        </a:lnSpc>
                        <a:spcAft>
                          <a:spcPts val="0"/>
                        </a:spcAft>
                      </a:pPr>
                      <a:r>
                        <a:rPr lang="en-IN" sz="1600">
                          <a:effectLst/>
                        </a:rPr>
                        <a:t>6.</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Bank ID</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varchar(50)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Not 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Loan sanctioned Bank ID</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397177721"/>
                  </a:ext>
                </a:extLst>
              </a:tr>
              <a:tr h="607134">
                <a:tc>
                  <a:txBody>
                    <a:bodyPr/>
                    <a:lstStyle/>
                    <a:p>
                      <a:pPr algn="ctr">
                        <a:lnSpc>
                          <a:spcPct val="115000"/>
                        </a:lnSpc>
                        <a:spcAft>
                          <a:spcPts val="0"/>
                        </a:spcAft>
                      </a:pPr>
                      <a:r>
                        <a:rPr lang="en-IN" sz="1600">
                          <a:effectLst/>
                        </a:rPr>
                        <a:t>7.</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Customer Account Number</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bigint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Not 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Customer account number</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527668971"/>
                  </a:ext>
                </a:extLst>
              </a:tr>
              <a:tr h="292857">
                <a:tc>
                  <a:txBody>
                    <a:bodyPr/>
                    <a:lstStyle/>
                    <a:p>
                      <a:pPr algn="ctr">
                        <a:lnSpc>
                          <a:spcPct val="115000"/>
                        </a:lnSpc>
                        <a:spcAft>
                          <a:spcPts val="0"/>
                        </a:spcAft>
                      </a:pPr>
                      <a:r>
                        <a:rPr lang="en-IN" sz="1600">
                          <a:effectLst/>
                        </a:rPr>
                        <a:t>8.</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Bank IFSC Code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varchar(50)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a:effectLst/>
                        </a:rPr>
                        <a:t>Not Null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600" dirty="0">
                          <a:effectLst/>
                        </a:rPr>
                        <a:t>Bank IFSC code</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239110007"/>
                  </a:ext>
                </a:extLst>
              </a:tr>
            </a:tbl>
          </a:graphicData>
        </a:graphic>
      </p:graphicFrame>
    </p:spTree>
    <p:extLst>
      <p:ext uri="{BB962C8B-B14F-4D97-AF65-F5344CB8AC3E}">
        <p14:creationId xmlns:p14="http://schemas.microsoft.com/office/powerpoint/2010/main" xmlns="" val="184463987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0039FC-E371-4F29-8FE9-249D81CE7BA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0C79B445-395B-4DC4-8609-3BB56CF8BCEC}"/>
              </a:ext>
            </a:extLst>
          </p:cNvPr>
          <p:cNvSpPr>
            <a:spLocks noGrp="1"/>
          </p:cNvSpPr>
          <p:nvPr>
            <p:ph idx="1"/>
          </p:nvPr>
        </p:nvSpPr>
        <p:spPr/>
        <p:txBody>
          <a:bodyPr>
            <a:normAutofit/>
          </a:bodyPr>
          <a:lstStyle/>
          <a:p>
            <a:pPr marL="0" indent="0">
              <a:buNone/>
            </a:pPr>
            <a:endParaRPr lang="en-US" sz="8000" dirty="0"/>
          </a:p>
          <a:p>
            <a:pPr marL="0" indent="0">
              <a:buNone/>
            </a:pPr>
            <a:r>
              <a:rPr lang="en-US" sz="8000" dirty="0"/>
              <a:t>		Screen Shots</a:t>
            </a:r>
            <a:endParaRPr lang="en-IN" sz="8000" dirty="0"/>
          </a:p>
        </p:txBody>
      </p:sp>
    </p:spTree>
    <p:extLst>
      <p:ext uri="{BB962C8B-B14F-4D97-AF65-F5344CB8AC3E}">
        <p14:creationId xmlns:p14="http://schemas.microsoft.com/office/powerpoint/2010/main" xmlns="" val="87802113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F64F22-CBE6-424C-B55F-097C3FD013AA}"/>
              </a:ext>
            </a:extLst>
          </p:cNvPr>
          <p:cNvSpPr>
            <a:spLocks noGrp="1"/>
          </p:cNvSpPr>
          <p:nvPr>
            <p:ph type="title"/>
          </p:nvPr>
        </p:nvSpPr>
        <p:spPr/>
        <p:txBody>
          <a:bodyPr/>
          <a:lstStyle/>
          <a:p>
            <a:r>
              <a:rPr lang="en-US" b="1" u="sng" dirty="0"/>
              <a:t>Home Page:</a:t>
            </a:r>
            <a:endParaRPr lang="en-IN" b="1" u="sng" dirty="0"/>
          </a:p>
        </p:txBody>
      </p:sp>
      <p:pic>
        <p:nvPicPr>
          <p:cNvPr id="5" name="Content Placeholder 4">
            <a:extLst>
              <a:ext uri="{FF2B5EF4-FFF2-40B4-BE49-F238E27FC236}">
                <a16:creationId xmlns:a16="http://schemas.microsoft.com/office/drawing/2014/main" xmlns="" id="{AD921F2B-C11B-46A0-B100-6B10C416B169}"/>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4572000"/>
          </a:xfrm>
        </p:spPr>
      </p:pic>
    </p:spTree>
    <p:extLst>
      <p:ext uri="{BB962C8B-B14F-4D97-AF65-F5344CB8AC3E}">
        <p14:creationId xmlns:p14="http://schemas.microsoft.com/office/powerpoint/2010/main" xmlns="" val="420881821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91C05E-EE91-486F-AE49-4315CC966E20}"/>
              </a:ext>
            </a:extLst>
          </p:cNvPr>
          <p:cNvSpPr>
            <a:spLocks noGrp="1"/>
          </p:cNvSpPr>
          <p:nvPr>
            <p:ph type="title"/>
          </p:nvPr>
        </p:nvSpPr>
        <p:spPr/>
        <p:txBody>
          <a:bodyPr/>
          <a:lstStyle/>
          <a:p>
            <a:r>
              <a:rPr lang="en-US" dirty="0"/>
              <a:t>About Page</a:t>
            </a:r>
            <a:endParaRPr lang="en-IN" dirty="0"/>
          </a:p>
        </p:txBody>
      </p:sp>
      <p:pic>
        <p:nvPicPr>
          <p:cNvPr id="5" name="Content Placeholder 4">
            <a:extLst>
              <a:ext uri="{FF2B5EF4-FFF2-40B4-BE49-F238E27FC236}">
                <a16:creationId xmlns:a16="http://schemas.microsoft.com/office/drawing/2014/main" xmlns="" id="{468AEFF9-9BDB-4CAE-946A-BD7480AE7D54}"/>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1" y="1600200"/>
            <a:ext cx="9980682" cy="4572000"/>
          </a:xfrm>
        </p:spPr>
      </p:pic>
    </p:spTree>
    <p:extLst>
      <p:ext uri="{BB962C8B-B14F-4D97-AF65-F5344CB8AC3E}">
        <p14:creationId xmlns:p14="http://schemas.microsoft.com/office/powerpoint/2010/main" xmlns="" val="44107058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4EE35E-9492-4578-8264-CAD78ADBE7FE}"/>
              </a:ext>
            </a:extLst>
          </p:cNvPr>
          <p:cNvSpPr>
            <a:spLocks noGrp="1"/>
          </p:cNvSpPr>
          <p:nvPr>
            <p:ph type="title"/>
          </p:nvPr>
        </p:nvSpPr>
        <p:spPr/>
        <p:txBody>
          <a:bodyPr/>
          <a:lstStyle/>
          <a:p>
            <a:r>
              <a:rPr lang="en-US" dirty="0"/>
              <a:t>Contact Page:</a:t>
            </a:r>
            <a:endParaRPr lang="en-IN" dirty="0"/>
          </a:p>
        </p:txBody>
      </p:sp>
      <p:pic>
        <p:nvPicPr>
          <p:cNvPr id="5" name="Content Placeholder 4">
            <a:extLst>
              <a:ext uri="{FF2B5EF4-FFF2-40B4-BE49-F238E27FC236}">
                <a16:creationId xmlns:a16="http://schemas.microsoft.com/office/drawing/2014/main" xmlns="" id="{6BAC4F30-E894-4AF3-B66A-C9352C735012}"/>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4572000"/>
          </a:xfrm>
        </p:spPr>
      </p:pic>
    </p:spTree>
    <p:extLst>
      <p:ext uri="{BB962C8B-B14F-4D97-AF65-F5344CB8AC3E}">
        <p14:creationId xmlns:p14="http://schemas.microsoft.com/office/powerpoint/2010/main" xmlns="" val="28336993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BE39FA-4C09-4FCC-8008-E13B64032FC3}"/>
              </a:ext>
            </a:extLst>
          </p:cNvPr>
          <p:cNvSpPr>
            <a:spLocks noGrp="1"/>
          </p:cNvSpPr>
          <p:nvPr>
            <p:ph type="title"/>
          </p:nvPr>
        </p:nvSpPr>
        <p:spPr/>
        <p:txBody>
          <a:bodyPr/>
          <a:lstStyle/>
          <a:p>
            <a:r>
              <a:rPr lang="en-US" b="1" u="sng" dirty="0"/>
              <a:t>Customer Login:</a:t>
            </a:r>
            <a:endParaRPr lang="en-IN" b="1" u="sng" dirty="0"/>
          </a:p>
        </p:txBody>
      </p:sp>
      <p:pic>
        <p:nvPicPr>
          <p:cNvPr id="10" name="Content Placeholder 9">
            <a:extLst>
              <a:ext uri="{FF2B5EF4-FFF2-40B4-BE49-F238E27FC236}">
                <a16:creationId xmlns:a16="http://schemas.microsoft.com/office/drawing/2014/main" xmlns="" id="{84BC06A1-C2F8-42BF-BC12-A51859DC4BE5}"/>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4572000"/>
          </a:xfrm>
        </p:spPr>
      </p:pic>
    </p:spTree>
    <p:extLst>
      <p:ext uri="{BB962C8B-B14F-4D97-AF65-F5344CB8AC3E}">
        <p14:creationId xmlns:p14="http://schemas.microsoft.com/office/powerpoint/2010/main" xmlns="" val="24444855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BAF3B7-18C2-4880-A425-FDD88710088D}"/>
              </a:ext>
            </a:extLst>
          </p:cNvPr>
          <p:cNvSpPr>
            <a:spLocks noGrp="1"/>
          </p:cNvSpPr>
          <p:nvPr>
            <p:ph type="title"/>
          </p:nvPr>
        </p:nvSpPr>
        <p:spPr/>
        <p:txBody>
          <a:bodyPr/>
          <a:lstStyle/>
          <a:p>
            <a:r>
              <a:rPr lang="en-US" b="1" u="sng" dirty="0"/>
              <a:t>New Customer Registration Form</a:t>
            </a:r>
            <a:r>
              <a:rPr lang="en-US" dirty="0"/>
              <a:t>:</a:t>
            </a:r>
            <a:endParaRPr lang="en-IN" dirty="0"/>
          </a:p>
        </p:txBody>
      </p:sp>
      <p:pic>
        <p:nvPicPr>
          <p:cNvPr id="5" name="Content Placeholder 4">
            <a:extLst>
              <a:ext uri="{FF2B5EF4-FFF2-40B4-BE49-F238E27FC236}">
                <a16:creationId xmlns:a16="http://schemas.microsoft.com/office/drawing/2014/main" xmlns="" id="{6D098BB1-4F46-4100-A568-ACFCAF49DABD}"/>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5614134"/>
          </a:xfrm>
        </p:spPr>
      </p:pic>
    </p:spTree>
    <p:extLst>
      <p:ext uri="{BB962C8B-B14F-4D97-AF65-F5344CB8AC3E}">
        <p14:creationId xmlns:p14="http://schemas.microsoft.com/office/powerpoint/2010/main" xmlns="" val="293351316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EF97BD-A5AF-43EF-ABB7-97C3133C940F}"/>
              </a:ext>
            </a:extLst>
          </p:cNvPr>
          <p:cNvSpPr>
            <a:spLocks noGrp="1"/>
          </p:cNvSpPr>
          <p:nvPr>
            <p:ph type="title"/>
          </p:nvPr>
        </p:nvSpPr>
        <p:spPr/>
        <p:txBody>
          <a:bodyPr/>
          <a:lstStyle/>
          <a:p>
            <a:r>
              <a:rPr lang="en-US" dirty="0"/>
              <a:t>Completion of Customer Registration :</a:t>
            </a:r>
            <a:endParaRPr lang="en-IN" dirty="0"/>
          </a:p>
        </p:txBody>
      </p:sp>
      <p:pic>
        <p:nvPicPr>
          <p:cNvPr id="7" name="Content Placeholder 6">
            <a:extLst>
              <a:ext uri="{FF2B5EF4-FFF2-40B4-BE49-F238E27FC236}">
                <a16:creationId xmlns:a16="http://schemas.microsoft.com/office/drawing/2014/main" xmlns="" id="{56784A07-00DA-4F94-9F5A-0A2C0FE6B571}"/>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4572000"/>
          </a:xfrm>
        </p:spPr>
      </p:pic>
    </p:spTree>
    <p:extLst>
      <p:ext uri="{BB962C8B-B14F-4D97-AF65-F5344CB8AC3E}">
        <p14:creationId xmlns:p14="http://schemas.microsoft.com/office/powerpoint/2010/main" xmlns="" val="229650307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FD6D84-5A82-4496-BE59-0E31AD682AEE}"/>
              </a:ext>
            </a:extLst>
          </p:cNvPr>
          <p:cNvSpPr>
            <a:spLocks noGrp="1"/>
          </p:cNvSpPr>
          <p:nvPr>
            <p:ph type="title"/>
          </p:nvPr>
        </p:nvSpPr>
        <p:spPr/>
        <p:txBody>
          <a:bodyPr/>
          <a:lstStyle/>
          <a:p>
            <a:r>
              <a:rPr lang="en-US" b="1" u="sng" dirty="0"/>
              <a:t>Admin Login: </a:t>
            </a:r>
            <a:endParaRPr lang="en-IN" b="1" u="sng" dirty="0"/>
          </a:p>
        </p:txBody>
      </p:sp>
      <p:pic>
        <p:nvPicPr>
          <p:cNvPr id="7" name="Content Placeholder 6">
            <a:extLst>
              <a:ext uri="{FF2B5EF4-FFF2-40B4-BE49-F238E27FC236}">
                <a16:creationId xmlns:a16="http://schemas.microsoft.com/office/drawing/2014/main" xmlns="" id="{5485D970-D617-4136-9E53-7F79A5D1BDD7}"/>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4572000"/>
          </a:xfrm>
        </p:spPr>
      </p:pic>
    </p:spTree>
    <p:extLst>
      <p:ext uri="{BB962C8B-B14F-4D97-AF65-F5344CB8AC3E}">
        <p14:creationId xmlns:p14="http://schemas.microsoft.com/office/powerpoint/2010/main" xmlns="" val="229480875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D0C910-2A0B-4C79-AD75-17E3D3D28E85}"/>
              </a:ext>
            </a:extLst>
          </p:cNvPr>
          <p:cNvSpPr>
            <a:spLocks noGrp="1"/>
          </p:cNvSpPr>
          <p:nvPr>
            <p:ph type="title"/>
          </p:nvPr>
        </p:nvSpPr>
        <p:spPr/>
        <p:txBody>
          <a:bodyPr/>
          <a:lstStyle/>
          <a:p>
            <a:r>
              <a:rPr lang="en-US" dirty="0"/>
              <a:t>Admin Navigation:</a:t>
            </a:r>
            <a:endParaRPr lang="en-IN" dirty="0"/>
          </a:p>
        </p:txBody>
      </p:sp>
      <p:pic>
        <p:nvPicPr>
          <p:cNvPr id="5" name="Content Placeholder 4">
            <a:extLst>
              <a:ext uri="{FF2B5EF4-FFF2-40B4-BE49-F238E27FC236}">
                <a16:creationId xmlns:a16="http://schemas.microsoft.com/office/drawing/2014/main" xmlns="" id="{ECD8A5B6-A606-41B8-AA7C-821BBB5AF877}"/>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71574" y="1516856"/>
            <a:ext cx="9980681" cy="5093494"/>
          </a:xfrm>
        </p:spPr>
      </p:pic>
    </p:spTree>
    <p:extLst>
      <p:ext uri="{BB962C8B-B14F-4D97-AF65-F5344CB8AC3E}">
        <p14:creationId xmlns:p14="http://schemas.microsoft.com/office/powerpoint/2010/main" xmlns="" val="205415518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FD1CDE-7890-487B-9A27-72ADF88BB45D}"/>
              </a:ext>
            </a:extLst>
          </p:cNvPr>
          <p:cNvSpPr>
            <a:spLocks noGrp="1"/>
          </p:cNvSpPr>
          <p:nvPr>
            <p:ph type="title"/>
          </p:nvPr>
        </p:nvSpPr>
        <p:spPr/>
        <p:txBody>
          <a:bodyPr/>
          <a:lstStyle/>
          <a:p>
            <a:r>
              <a:rPr lang="en-US" b="1" u="sng" dirty="0"/>
              <a:t>Customers Entry Form</a:t>
            </a:r>
            <a:r>
              <a:rPr lang="en-US" dirty="0"/>
              <a:t>:</a:t>
            </a:r>
            <a:endParaRPr lang="en-IN" dirty="0"/>
          </a:p>
        </p:txBody>
      </p:sp>
      <p:pic>
        <p:nvPicPr>
          <p:cNvPr id="5" name="Content Placeholder 4">
            <a:extLst>
              <a:ext uri="{FF2B5EF4-FFF2-40B4-BE49-F238E27FC236}">
                <a16:creationId xmlns:a16="http://schemas.microsoft.com/office/drawing/2014/main" xmlns="" id="{703E4891-B3BD-45D6-B9F7-4B4106421AC9}"/>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4572000"/>
          </a:xfrm>
        </p:spPr>
      </p:pic>
    </p:spTree>
    <p:extLst>
      <p:ext uri="{BB962C8B-B14F-4D97-AF65-F5344CB8AC3E}">
        <p14:creationId xmlns:p14="http://schemas.microsoft.com/office/powerpoint/2010/main" xmlns="" val="37976699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3C858D-B316-49D0-B004-920E60D534A9}"/>
              </a:ext>
            </a:extLst>
          </p:cNvPr>
          <p:cNvSpPr>
            <a:spLocks noGrp="1"/>
          </p:cNvSpPr>
          <p:nvPr>
            <p:ph type="title"/>
          </p:nvPr>
        </p:nvSpPr>
        <p:spPr/>
        <p:txBody>
          <a:bodyPr/>
          <a:lstStyle/>
          <a:p>
            <a:r>
              <a:rPr lang="en-US" dirty="0"/>
              <a:t>Customer Details</a:t>
            </a:r>
            <a:endParaRPr lang="en-IN" dirty="0"/>
          </a:p>
        </p:txBody>
      </p:sp>
      <p:pic>
        <p:nvPicPr>
          <p:cNvPr id="5" name="Content Placeholder 4">
            <a:extLst>
              <a:ext uri="{FF2B5EF4-FFF2-40B4-BE49-F238E27FC236}">
                <a16:creationId xmlns:a16="http://schemas.microsoft.com/office/drawing/2014/main" xmlns="" id="{DE1AA921-36AC-4838-8F56-F337337A3A82}"/>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4572000"/>
          </a:xfrm>
        </p:spPr>
      </p:pic>
    </p:spTree>
    <p:extLst>
      <p:ext uri="{BB962C8B-B14F-4D97-AF65-F5344CB8AC3E}">
        <p14:creationId xmlns:p14="http://schemas.microsoft.com/office/powerpoint/2010/main" xmlns="" val="378029280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A9DD4B-30ED-439C-992C-D86EA7326295}"/>
              </a:ext>
            </a:extLst>
          </p:cNvPr>
          <p:cNvSpPr>
            <a:spLocks noGrp="1"/>
          </p:cNvSpPr>
          <p:nvPr>
            <p:ph type="title"/>
          </p:nvPr>
        </p:nvSpPr>
        <p:spPr/>
        <p:txBody>
          <a:bodyPr/>
          <a:lstStyle/>
          <a:p>
            <a:r>
              <a:rPr lang="en-US" dirty="0"/>
              <a:t>Inward Products Entry Form:</a:t>
            </a:r>
            <a:endParaRPr lang="en-IN" dirty="0"/>
          </a:p>
        </p:txBody>
      </p:sp>
      <p:pic>
        <p:nvPicPr>
          <p:cNvPr id="5" name="Content Placeholder 4">
            <a:extLst>
              <a:ext uri="{FF2B5EF4-FFF2-40B4-BE49-F238E27FC236}">
                <a16:creationId xmlns:a16="http://schemas.microsoft.com/office/drawing/2014/main" xmlns="" id="{088477B7-7ADA-4EB2-87AC-77DDFF6B5641}"/>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4572000"/>
          </a:xfrm>
        </p:spPr>
      </p:pic>
    </p:spTree>
    <p:extLst>
      <p:ext uri="{BB962C8B-B14F-4D97-AF65-F5344CB8AC3E}">
        <p14:creationId xmlns:p14="http://schemas.microsoft.com/office/powerpoint/2010/main" xmlns="" val="20192342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D0926F-2BE5-4288-84FC-0BF9ACE734A5}"/>
              </a:ext>
            </a:extLst>
          </p:cNvPr>
          <p:cNvSpPr>
            <a:spLocks noGrp="1"/>
          </p:cNvSpPr>
          <p:nvPr>
            <p:ph type="title"/>
          </p:nvPr>
        </p:nvSpPr>
        <p:spPr/>
        <p:txBody>
          <a:bodyPr/>
          <a:lstStyle/>
          <a:p>
            <a:r>
              <a:rPr lang="en-US" dirty="0"/>
              <a:t>Inward Products Details:</a:t>
            </a:r>
            <a:endParaRPr lang="en-IN" dirty="0"/>
          </a:p>
        </p:txBody>
      </p:sp>
      <p:pic>
        <p:nvPicPr>
          <p:cNvPr id="5" name="Content Placeholder 4">
            <a:extLst>
              <a:ext uri="{FF2B5EF4-FFF2-40B4-BE49-F238E27FC236}">
                <a16:creationId xmlns:a16="http://schemas.microsoft.com/office/drawing/2014/main" xmlns="" id="{90CB5527-E7C1-4B0B-AA5B-D58099EB4F1C}"/>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899" y="1600200"/>
            <a:ext cx="9980681" cy="4572000"/>
          </a:xfrm>
        </p:spPr>
      </p:pic>
    </p:spTree>
    <p:extLst>
      <p:ext uri="{BB962C8B-B14F-4D97-AF65-F5344CB8AC3E}">
        <p14:creationId xmlns:p14="http://schemas.microsoft.com/office/powerpoint/2010/main" xmlns="" val="584652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4E8C49-5549-4B3E-A691-6C25A5F6D362}"/>
              </a:ext>
            </a:extLst>
          </p:cNvPr>
          <p:cNvSpPr>
            <a:spLocks noGrp="1"/>
          </p:cNvSpPr>
          <p:nvPr>
            <p:ph type="title"/>
          </p:nvPr>
        </p:nvSpPr>
        <p:spPr/>
        <p:txBody>
          <a:bodyPr/>
          <a:lstStyle/>
          <a:p>
            <a:r>
              <a:rPr lang="en-US" dirty="0"/>
              <a:t>Outward Products Entry Form:</a:t>
            </a:r>
            <a:endParaRPr lang="en-IN" dirty="0"/>
          </a:p>
        </p:txBody>
      </p:sp>
      <p:pic>
        <p:nvPicPr>
          <p:cNvPr id="5" name="Content Placeholder 4">
            <a:extLst>
              <a:ext uri="{FF2B5EF4-FFF2-40B4-BE49-F238E27FC236}">
                <a16:creationId xmlns:a16="http://schemas.microsoft.com/office/drawing/2014/main" xmlns="" id="{9668B09E-A627-41B7-96BF-662ADF06DA66}"/>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4572000"/>
          </a:xfrm>
        </p:spPr>
      </p:pic>
    </p:spTree>
    <p:extLst>
      <p:ext uri="{BB962C8B-B14F-4D97-AF65-F5344CB8AC3E}">
        <p14:creationId xmlns:p14="http://schemas.microsoft.com/office/powerpoint/2010/main" xmlns="" val="78675799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BC3A7F-8C0A-434C-9722-3774CEB9356C}"/>
              </a:ext>
            </a:extLst>
          </p:cNvPr>
          <p:cNvSpPr>
            <a:spLocks noGrp="1"/>
          </p:cNvSpPr>
          <p:nvPr>
            <p:ph type="title"/>
          </p:nvPr>
        </p:nvSpPr>
        <p:spPr/>
        <p:txBody>
          <a:bodyPr/>
          <a:lstStyle/>
          <a:p>
            <a:r>
              <a:rPr lang="en-US" dirty="0"/>
              <a:t>Outward Products Details:</a:t>
            </a:r>
            <a:endParaRPr lang="en-IN" dirty="0"/>
          </a:p>
        </p:txBody>
      </p:sp>
      <p:pic>
        <p:nvPicPr>
          <p:cNvPr id="5" name="Content Placeholder 4">
            <a:extLst>
              <a:ext uri="{FF2B5EF4-FFF2-40B4-BE49-F238E27FC236}">
                <a16:creationId xmlns:a16="http://schemas.microsoft.com/office/drawing/2014/main" xmlns="" id="{0E897FF0-9C05-4AD3-A7D3-191B3A22CDB3}"/>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4572000"/>
          </a:xfrm>
        </p:spPr>
      </p:pic>
    </p:spTree>
    <p:extLst>
      <p:ext uri="{BB962C8B-B14F-4D97-AF65-F5344CB8AC3E}">
        <p14:creationId xmlns:p14="http://schemas.microsoft.com/office/powerpoint/2010/main" xmlns="" val="2048585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4EEEDA-0EF5-471B-AD0C-437EF68B5094}"/>
              </a:ext>
            </a:extLst>
          </p:cNvPr>
          <p:cNvSpPr>
            <a:spLocks noGrp="1"/>
          </p:cNvSpPr>
          <p:nvPr>
            <p:ph type="title"/>
          </p:nvPr>
        </p:nvSpPr>
        <p:spPr/>
        <p:txBody>
          <a:bodyPr/>
          <a:lstStyle/>
          <a:p>
            <a:r>
              <a:rPr lang="en-US" dirty="0"/>
              <a:t>Payment Information Entry Form:</a:t>
            </a:r>
            <a:endParaRPr lang="en-IN" dirty="0"/>
          </a:p>
        </p:txBody>
      </p:sp>
      <p:pic>
        <p:nvPicPr>
          <p:cNvPr id="5" name="Content Placeholder 4">
            <a:extLst>
              <a:ext uri="{FF2B5EF4-FFF2-40B4-BE49-F238E27FC236}">
                <a16:creationId xmlns:a16="http://schemas.microsoft.com/office/drawing/2014/main" xmlns="" id="{55029D67-6E70-4B7F-BB2C-C2D83ADDB3A0}"/>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4572000"/>
          </a:xfrm>
        </p:spPr>
      </p:pic>
    </p:spTree>
    <p:extLst>
      <p:ext uri="{BB962C8B-B14F-4D97-AF65-F5344CB8AC3E}">
        <p14:creationId xmlns:p14="http://schemas.microsoft.com/office/powerpoint/2010/main" xmlns="" val="6342578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E5D04D-8F7C-42C4-B6C2-12F692F418F6}"/>
              </a:ext>
            </a:extLst>
          </p:cNvPr>
          <p:cNvSpPr>
            <a:spLocks noGrp="1"/>
          </p:cNvSpPr>
          <p:nvPr>
            <p:ph type="title"/>
          </p:nvPr>
        </p:nvSpPr>
        <p:spPr/>
        <p:txBody>
          <a:bodyPr/>
          <a:lstStyle/>
          <a:p>
            <a:r>
              <a:rPr lang="en-US" dirty="0"/>
              <a:t>Payment Details:</a:t>
            </a:r>
            <a:endParaRPr lang="en-IN" dirty="0"/>
          </a:p>
        </p:txBody>
      </p:sp>
      <p:pic>
        <p:nvPicPr>
          <p:cNvPr id="5" name="Content Placeholder 4">
            <a:extLst>
              <a:ext uri="{FF2B5EF4-FFF2-40B4-BE49-F238E27FC236}">
                <a16:creationId xmlns:a16="http://schemas.microsoft.com/office/drawing/2014/main" xmlns="" id="{47F0FC34-C635-4FBB-B868-D997F376F3B7}"/>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4572000"/>
          </a:xfrm>
        </p:spPr>
      </p:pic>
    </p:spTree>
    <p:extLst>
      <p:ext uri="{BB962C8B-B14F-4D97-AF65-F5344CB8AC3E}">
        <p14:creationId xmlns:p14="http://schemas.microsoft.com/office/powerpoint/2010/main" xmlns="" val="33827899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B14262-5814-4035-A481-EA74FD17F58F}"/>
              </a:ext>
            </a:extLst>
          </p:cNvPr>
          <p:cNvSpPr>
            <a:spLocks noGrp="1"/>
          </p:cNvSpPr>
          <p:nvPr>
            <p:ph type="title"/>
          </p:nvPr>
        </p:nvSpPr>
        <p:spPr/>
        <p:txBody>
          <a:bodyPr/>
          <a:lstStyle/>
          <a:p>
            <a:r>
              <a:rPr lang="en-US" dirty="0"/>
              <a:t>Customer Loan Information Entry Form:</a:t>
            </a:r>
            <a:endParaRPr lang="en-IN" dirty="0"/>
          </a:p>
        </p:txBody>
      </p:sp>
      <p:pic>
        <p:nvPicPr>
          <p:cNvPr id="5" name="Content Placeholder 4">
            <a:extLst>
              <a:ext uri="{FF2B5EF4-FFF2-40B4-BE49-F238E27FC236}">
                <a16:creationId xmlns:a16="http://schemas.microsoft.com/office/drawing/2014/main" xmlns="" id="{3204B626-E646-41AD-B725-70B2C5381355}"/>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4572000"/>
          </a:xfrm>
        </p:spPr>
      </p:pic>
    </p:spTree>
    <p:extLst>
      <p:ext uri="{BB962C8B-B14F-4D97-AF65-F5344CB8AC3E}">
        <p14:creationId xmlns:p14="http://schemas.microsoft.com/office/powerpoint/2010/main" xmlns="" val="30156868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2209B9-D6CE-471E-BF41-CAC1BA4C7AFD}"/>
              </a:ext>
            </a:extLst>
          </p:cNvPr>
          <p:cNvSpPr>
            <a:spLocks noGrp="1"/>
          </p:cNvSpPr>
          <p:nvPr>
            <p:ph type="title"/>
          </p:nvPr>
        </p:nvSpPr>
        <p:spPr/>
        <p:txBody>
          <a:bodyPr/>
          <a:lstStyle/>
          <a:p>
            <a:r>
              <a:rPr lang="en-US" dirty="0"/>
              <a:t>Customer Loan Details:</a:t>
            </a:r>
            <a:endParaRPr lang="en-IN" dirty="0"/>
          </a:p>
        </p:txBody>
      </p:sp>
      <p:pic>
        <p:nvPicPr>
          <p:cNvPr id="5" name="Content Placeholder 4">
            <a:extLst>
              <a:ext uri="{FF2B5EF4-FFF2-40B4-BE49-F238E27FC236}">
                <a16:creationId xmlns:a16="http://schemas.microsoft.com/office/drawing/2014/main" xmlns="" id="{1A597F89-70BD-4BC5-9BB9-EFE43F414153}"/>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4572000"/>
          </a:xfrm>
        </p:spPr>
      </p:pic>
    </p:spTree>
    <p:extLst>
      <p:ext uri="{BB962C8B-B14F-4D97-AF65-F5344CB8AC3E}">
        <p14:creationId xmlns:p14="http://schemas.microsoft.com/office/powerpoint/2010/main" xmlns="" val="330002478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EE1A07-0354-4987-A133-06483F00495F}"/>
              </a:ext>
            </a:extLst>
          </p:cNvPr>
          <p:cNvSpPr>
            <a:spLocks noGrp="1"/>
          </p:cNvSpPr>
          <p:nvPr>
            <p:ph type="title"/>
          </p:nvPr>
        </p:nvSpPr>
        <p:spPr/>
        <p:txBody>
          <a:bodyPr/>
          <a:lstStyle/>
          <a:p>
            <a:r>
              <a:rPr lang="en-US" dirty="0"/>
              <a:t>Admin work Summary</a:t>
            </a:r>
            <a:endParaRPr lang="en-IN" dirty="0"/>
          </a:p>
        </p:txBody>
      </p:sp>
      <p:pic>
        <p:nvPicPr>
          <p:cNvPr id="5" name="Content Placeholder 4">
            <a:extLst>
              <a:ext uri="{FF2B5EF4-FFF2-40B4-BE49-F238E27FC236}">
                <a16:creationId xmlns:a16="http://schemas.microsoft.com/office/drawing/2014/main" xmlns="" id="{99E137A6-49FE-4C97-922A-0A77F07D026F}"/>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104900" y="1600200"/>
            <a:ext cx="9980682" cy="4572000"/>
          </a:xfrm>
        </p:spPr>
      </p:pic>
    </p:spTree>
    <p:extLst>
      <p:ext uri="{BB962C8B-B14F-4D97-AF65-F5344CB8AC3E}">
        <p14:creationId xmlns:p14="http://schemas.microsoft.com/office/powerpoint/2010/main" xmlns="" val="323463338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B71128-526E-4E72-9C84-C73BF373848C}"/>
              </a:ext>
            </a:extLst>
          </p:cNvPr>
          <p:cNvSpPr>
            <a:spLocks noGrp="1"/>
          </p:cNvSpPr>
          <p:nvPr>
            <p:ph type="title"/>
          </p:nvPr>
        </p:nvSpPr>
        <p:spPr/>
        <p:txBody>
          <a:bodyPr/>
          <a:lstStyle/>
          <a:p>
            <a:r>
              <a:rPr lang="en-US" dirty="0"/>
              <a:t>ER Diagram</a:t>
            </a:r>
            <a:endParaRPr lang="en-IN" dirty="0"/>
          </a:p>
        </p:txBody>
      </p:sp>
      <p:sp>
        <p:nvSpPr>
          <p:cNvPr id="3" name="Content Placeholder 2">
            <a:extLst>
              <a:ext uri="{FF2B5EF4-FFF2-40B4-BE49-F238E27FC236}">
                <a16:creationId xmlns:a16="http://schemas.microsoft.com/office/drawing/2014/main" xmlns="" id="{5299AA86-CEAB-4F2F-8039-5D28AD5AABD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xmlns="" val="253879744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73DB3F-83E9-40C5-9329-CBAB2B2D7635}"/>
              </a:ext>
            </a:extLst>
          </p:cNvPr>
          <p:cNvSpPr>
            <a:spLocks noGrp="1"/>
          </p:cNvSpPr>
          <p:nvPr>
            <p:ph type="title"/>
          </p:nvPr>
        </p:nvSpPr>
        <p:spPr/>
        <p:txBody>
          <a:bodyPr/>
          <a:lstStyle/>
          <a:p>
            <a:r>
              <a:rPr lang="en-US" dirty="0"/>
              <a:t>Use Case Diagram</a:t>
            </a:r>
            <a:endParaRPr lang="en-IN" dirty="0"/>
          </a:p>
        </p:txBody>
      </p:sp>
      <p:pic>
        <p:nvPicPr>
          <p:cNvPr id="4" name="Content Placeholder 3">
            <a:extLst>
              <a:ext uri="{FF2B5EF4-FFF2-40B4-BE49-F238E27FC236}">
                <a16:creationId xmlns:a16="http://schemas.microsoft.com/office/drawing/2014/main" xmlns="" id="{8104A278-12E9-4E63-9758-7EAD52016AEF}"/>
              </a:ext>
            </a:extLst>
          </p:cNvPr>
          <p:cNvPicPr>
            <a:picLocks noGrp="1" noChangeAspect="1" noChangeArrowheads="1"/>
          </p:cNvPicPr>
          <p:nvPr>
            <p:ph idx="1"/>
          </p:nvPr>
        </p:nvPicPr>
        <p:blipFill>
          <a:blip r:embed="rId2" cstate="print"/>
          <a:srcRect/>
          <a:stretch>
            <a:fillRect/>
          </a:stretch>
        </p:blipFill>
        <p:spPr bwMode="auto">
          <a:xfrm>
            <a:off x="3829511" y="1600200"/>
            <a:ext cx="4531460" cy="4572000"/>
          </a:xfrm>
          <a:prstGeom prst="rect">
            <a:avLst/>
          </a:prstGeom>
          <a:noFill/>
          <a:ln w="9525">
            <a:noFill/>
            <a:miter lim="800000"/>
            <a:headEnd/>
            <a:tailEnd/>
          </a:ln>
        </p:spPr>
      </p:pic>
    </p:spTree>
    <p:extLst>
      <p:ext uri="{BB962C8B-B14F-4D97-AF65-F5344CB8AC3E}">
        <p14:creationId xmlns:p14="http://schemas.microsoft.com/office/powerpoint/2010/main" xmlns="" val="4133582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72477B-2E47-4894-BD0A-16CBB29DD135}"/>
              </a:ext>
            </a:extLst>
          </p:cNvPr>
          <p:cNvSpPr>
            <a:spLocks noGrp="1"/>
          </p:cNvSpPr>
          <p:nvPr>
            <p:ph type="title"/>
          </p:nvPr>
        </p:nvSpPr>
        <p:spPr/>
        <p:txBody>
          <a:bodyPr/>
          <a:lstStyle/>
          <a:p>
            <a:r>
              <a:rPr lang="en-US" dirty="0"/>
              <a:t>Class Diagram</a:t>
            </a:r>
            <a:endParaRPr lang="en-IN" dirty="0"/>
          </a:p>
        </p:txBody>
      </p:sp>
      <p:sp>
        <p:nvSpPr>
          <p:cNvPr id="3" name="Content Placeholder 2">
            <a:extLst>
              <a:ext uri="{FF2B5EF4-FFF2-40B4-BE49-F238E27FC236}">
                <a16:creationId xmlns:a16="http://schemas.microsoft.com/office/drawing/2014/main" xmlns="" id="{A7CBE1E0-0224-4BD3-B077-38E657082D2C}"/>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xmlns="" id="{A2F51E65-4E62-44CE-A899-1357E7CAF667}"/>
              </a:ext>
            </a:extLst>
          </p:cNvPr>
          <p:cNvPicPr>
            <a:picLocks noChangeAspect="1" noChangeArrowheads="1"/>
          </p:cNvPicPr>
          <p:nvPr/>
        </p:nvPicPr>
        <p:blipFill>
          <a:blip r:embed="rId2" cstate="print"/>
          <a:srcRect/>
          <a:stretch>
            <a:fillRect/>
          </a:stretch>
        </p:blipFill>
        <p:spPr bwMode="auto">
          <a:xfrm>
            <a:off x="955431" y="1600200"/>
            <a:ext cx="9384323" cy="4304446"/>
          </a:xfrm>
          <a:prstGeom prst="rect">
            <a:avLst/>
          </a:prstGeom>
          <a:noFill/>
          <a:ln w="9525">
            <a:noFill/>
            <a:miter lim="800000"/>
            <a:headEnd/>
            <a:tailEnd/>
          </a:ln>
        </p:spPr>
      </p:pic>
    </p:spTree>
    <p:extLst>
      <p:ext uri="{BB962C8B-B14F-4D97-AF65-F5344CB8AC3E}">
        <p14:creationId xmlns:p14="http://schemas.microsoft.com/office/powerpoint/2010/main" xmlns="" val="218072059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4E3A6F-5E7B-4E92-BEF1-11EDC63FA79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5B503F30-6004-42C9-BDDD-3346647B3498}"/>
              </a:ext>
            </a:extLst>
          </p:cNvPr>
          <p:cNvSpPr>
            <a:spLocks noGrp="1"/>
          </p:cNvSpPr>
          <p:nvPr>
            <p:ph idx="1"/>
          </p:nvPr>
        </p:nvSpPr>
        <p:spPr/>
        <p:txBody>
          <a:bodyPr/>
          <a:lstStyle/>
          <a:p>
            <a:pPr marL="0" indent="0">
              <a:buNone/>
            </a:pPr>
            <a:endParaRPr lang="en-US" sz="7200" dirty="0">
              <a:ln w="0"/>
              <a:effectLst>
                <a:outerShdw blurRad="38100" dist="19050" dir="2700000" algn="tl" rotWithShape="0">
                  <a:schemeClr val="dk1">
                    <a:alpha val="40000"/>
                  </a:schemeClr>
                </a:outerShdw>
              </a:effectLst>
            </a:endParaRPr>
          </a:p>
          <a:p>
            <a:pPr marL="0" indent="0">
              <a:buNone/>
            </a:pPr>
            <a:r>
              <a:rPr lang="en-US" sz="7200" dirty="0">
                <a:ln w="0"/>
                <a:effectLst>
                  <a:outerShdw blurRad="38100" dist="19050" dir="2700000" algn="tl" rotWithShape="0">
                    <a:schemeClr val="dk1">
                      <a:alpha val="40000"/>
                    </a:schemeClr>
                  </a:outerShdw>
                </a:effectLst>
              </a:rPr>
              <a:t>	Testing &amp;Test cases</a:t>
            </a:r>
          </a:p>
          <a:p>
            <a:endParaRPr lang="en-IN" dirty="0"/>
          </a:p>
        </p:txBody>
      </p:sp>
    </p:spTree>
    <p:extLst>
      <p:ext uri="{BB962C8B-B14F-4D97-AF65-F5344CB8AC3E}">
        <p14:creationId xmlns:p14="http://schemas.microsoft.com/office/powerpoint/2010/main" xmlns="" val="99451646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3F0A6D-252C-4996-9736-0A6F5E5F7093}"/>
              </a:ext>
            </a:extLst>
          </p:cNvPr>
          <p:cNvSpPr>
            <a:spLocks noGrp="1"/>
          </p:cNvSpPr>
          <p:nvPr>
            <p:ph type="title"/>
          </p:nvPr>
        </p:nvSpPr>
        <p:spPr/>
        <p:txBody>
          <a:bodyPr/>
          <a:lstStyle/>
          <a:p>
            <a:endParaRPr lang="en-IN"/>
          </a:p>
        </p:txBody>
      </p:sp>
      <p:sp>
        <p:nvSpPr>
          <p:cNvPr id="5" name="Rectangle 1">
            <a:extLst>
              <a:ext uri="{FF2B5EF4-FFF2-40B4-BE49-F238E27FC236}">
                <a16:creationId xmlns:a16="http://schemas.microsoft.com/office/drawing/2014/main" xmlns="" id="{301F22A2-7EA7-4AE0-9319-4DB0E25FEF6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9" name="Content Placeholder 8">
            <a:extLst>
              <a:ext uri="{FF2B5EF4-FFF2-40B4-BE49-F238E27FC236}">
                <a16:creationId xmlns:a16="http://schemas.microsoft.com/office/drawing/2014/main" xmlns="" id="{AE5ACC0D-815E-48BA-BC30-2202DDBB56F5}"/>
              </a:ext>
            </a:extLst>
          </p:cNvPr>
          <p:cNvGraphicFramePr>
            <a:graphicFrameLocks noGrp="1"/>
          </p:cNvGraphicFramePr>
          <p:nvPr>
            <p:ph idx="1"/>
          </p:nvPr>
        </p:nvGraphicFramePr>
        <p:xfrm>
          <a:off x="1104900" y="1823823"/>
          <a:ext cx="9982200" cy="4380393"/>
        </p:xfrm>
        <a:graphic>
          <a:graphicData uri="http://schemas.openxmlformats.org/drawingml/2006/table">
            <a:tbl>
              <a:tblPr firstRow="1" firstCol="1" bandRow="1">
                <a:tableStyleId>{5C22544A-7EE6-4342-B048-85BDC9FD1C3A}</a:tableStyleId>
              </a:tblPr>
              <a:tblGrid>
                <a:gridCol w="2753710">
                  <a:extLst>
                    <a:ext uri="{9D8B030D-6E8A-4147-A177-3AD203B41FA5}">
                      <a16:colId xmlns:a16="http://schemas.microsoft.com/office/drawing/2014/main" xmlns="" val="331380239"/>
                    </a:ext>
                  </a:extLst>
                </a:gridCol>
                <a:gridCol w="3029081">
                  <a:extLst>
                    <a:ext uri="{9D8B030D-6E8A-4147-A177-3AD203B41FA5}">
                      <a16:colId xmlns:a16="http://schemas.microsoft.com/office/drawing/2014/main" xmlns="" val="1581432022"/>
                    </a:ext>
                  </a:extLst>
                </a:gridCol>
                <a:gridCol w="2960239">
                  <a:extLst>
                    <a:ext uri="{9D8B030D-6E8A-4147-A177-3AD203B41FA5}">
                      <a16:colId xmlns:a16="http://schemas.microsoft.com/office/drawing/2014/main" xmlns="" val="3985775651"/>
                    </a:ext>
                  </a:extLst>
                </a:gridCol>
                <a:gridCol w="1239170">
                  <a:extLst>
                    <a:ext uri="{9D8B030D-6E8A-4147-A177-3AD203B41FA5}">
                      <a16:colId xmlns:a16="http://schemas.microsoft.com/office/drawing/2014/main" xmlns="" val="1285535978"/>
                    </a:ext>
                  </a:extLst>
                </a:gridCol>
              </a:tblGrid>
              <a:tr h="511157">
                <a:tc>
                  <a:txBody>
                    <a:bodyPr/>
                    <a:lstStyle/>
                    <a:p>
                      <a:pPr algn="ctr">
                        <a:lnSpc>
                          <a:spcPct val="115000"/>
                        </a:lnSpc>
                        <a:spcAft>
                          <a:spcPts val="1000"/>
                        </a:spcAft>
                      </a:pPr>
                      <a:r>
                        <a:rPr lang="en-US" sz="1600" kern="1200">
                          <a:effectLst/>
                        </a:rPr>
                        <a:t>Input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gn="ctr">
                        <a:lnSpc>
                          <a:spcPct val="115000"/>
                        </a:lnSpc>
                        <a:spcAft>
                          <a:spcPts val="1000"/>
                        </a:spcAft>
                      </a:pPr>
                      <a:r>
                        <a:rPr lang="en-US" sz="1600" kern="1200">
                          <a:effectLst/>
                        </a:rPr>
                        <a:t>Expected behaviour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gn="ctr">
                        <a:lnSpc>
                          <a:spcPct val="115000"/>
                        </a:lnSpc>
                        <a:spcAft>
                          <a:spcPts val="1000"/>
                        </a:spcAft>
                      </a:pPr>
                      <a:r>
                        <a:rPr lang="en-US" sz="1600" kern="1200">
                          <a:effectLst/>
                        </a:rPr>
                        <a:t>Observed behaviour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gn="ctr">
                        <a:lnSpc>
                          <a:spcPct val="115000"/>
                        </a:lnSpc>
                        <a:spcAft>
                          <a:spcPts val="1000"/>
                        </a:spcAft>
                      </a:pPr>
                      <a:r>
                        <a:rPr lang="en-US" sz="1600" kern="1200">
                          <a:effectLst/>
                        </a:rPr>
                        <a:t>Status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extLst>
                  <a:ext uri="{0D108BD9-81ED-4DB2-BD59-A6C34878D82A}">
                    <a16:rowId xmlns:a16="http://schemas.microsoft.com/office/drawing/2014/main" xmlns="" val="3466523464"/>
                  </a:ext>
                </a:extLst>
              </a:tr>
              <a:tr h="671275">
                <a:tc>
                  <a:txBody>
                    <a:bodyPr/>
                    <a:lstStyle/>
                    <a:p>
                      <a:pPr>
                        <a:lnSpc>
                          <a:spcPct val="115000"/>
                        </a:lnSpc>
                        <a:spcAft>
                          <a:spcPts val="1000"/>
                        </a:spcAft>
                      </a:pPr>
                      <a:r>
                        <a:rPr lang="en-US" sz="1600" kern="1200">
                          <a:effectLst/>
                        </a:rPr>
                        <a:t>Invalid data for Customer Login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nSpc>
                          <a:spcPct val="115000"/>
                        </a:lnSpc>
                        <a:spcAft>
                          <a:spcPts val="1000"/>
                        </a:spcAft>
                      </a:pPr>
                      <a:r>
                        <a:rPr lang="en-US" sz="1600" kern="1200">
                          <a:effectLst/>
                        </a:rPr>
                        <a:t>Enter Valid Customer ID and password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nSpc>
                          <a:spcPct val="115000"/>
                        </a:lnSpc>
                        <a:spcAft>
                          <a:spcPts val="1000"/>
                        </a:spcAft>
                      </a:pPr>
                      <a:r>
                        <a:rPr lang="en-US" sz="1600" kern="1200">
                          <a:effectLst/>
                        </a:rPr>
                        <a:t>Invalid Customer ID or password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nSpc>
                          <a:spcPct val="115000"/>
                        </a:lnSpc>
                        <a:spcAft>
                          <a:spcPts val="1000"/>
                        </a:spcAft>
                      </a:pPr>
                      <a:r>
                        <a:rPr lang="en-US" sz="1600" kern="1200">
                          <a:effectLst/>
                        </a:rPr>
                        <a:t>  </a:t>
                      </a:r>
                      <a:endParaRPr lang="en-US" sz="1000">
                        <a:effectLst/>
                      </a:endParaRPr>
                    </a:p>
                    <a:p>
                      <a:pPr>
                        <a:lnSpc>
                          <a:spcPct val="115000"/>
                        </a:lnSpc>
                        <a:spcAft>
                          <a:spcPts val="1000"/>
                        </a:spcAft>
                      </a:pPr>
                      <a:r>
                        <a:rPr lang="en-US" sz="1600" kern="1200">
                          <a:effectLst/>
                        </a:rPr>
                        <a:t>Success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extLst>
                  <a:ext uri="{0D108BD9-81ED-4DB2-BD59-A6C34878D82A}">
                    <a16:rowId xmlns:a16="http://schemas.microsoft.com/office/drawing/2014/main" xmlns="" val="3365117831"/>
                  </a:ext>
                </a:extLst>
              </a:tr>
              <a:tr h="569100">
                <a:tc>
                  <a:txBody>
                    <a:bodyPr/>
                    <a:lstStyle/>
                    <a:p>
                      <a:pPr>
                        <a:lnSpc>
                          <a:spcPct val="115000"/>
                        </a:lnSpc>
                        <a:spcAft>
                          <a:spcPts val="1000"/>
                        </a:spcAft>
                      </a:pPr>
                      <a:r>
                        <a:rPr lang="en-US" sz="1600" kern="1200">
                          <a:effectLst/>
                        </a:rPr>
                        <a:t>Invalid Customer ID and valid password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nSpc>
                          <a:spcPct val="115000"/>
                        </a:lnSpc>
                        <a:spcAft>
                          <a:spcPts val="1000"/>
                        </a:spcAft>
                      </a:pPr>
                      <a:r>
                        <a:rPr lang="en-US" sz="1600" kern="1200">
                          <a:effectLst/>
                        </a:rPr>
                        <a:t>Please  enter valid Customer ID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nSpc>
                          <a:spcPct val="115000"/>
                        </a:lnSpc>
                        <a:spcAft>
                          <a:spcPts val="1000"/>
                        </a:spcAft>
                      </a:pPr>
                      <a:r>
                        <a:rPr lang="en-US" sz="1600" kern="1200">
                          <a:effectLst/>
                        </a:rPr>
                        <a:t>Please  enter valid Customer ID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nSpc>
                          <a:spcPct val="115000"/>
                        </a:lnSpc>
                        <a:spcAft>
                          <a:spcPts val="1000"/>
                        </a:spcAft>
                      </a:pPr>
                      <a:r>
                        <a:rPr lang="en-US" sz="1600" kern="1200">
                          <a:effectLst/>
                        </a:rPr>
                        <a:t>Success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extLst>
                  <a:ext uri="{0D108BD9-81ED-4DB2-BD59-A6C34878D82A}">
                    <a16:rowId xmlns:a16="http://schemas.microsoft.com/office/drawing/2014/main" xmlns="" val="2587971985"/>
                  </a:ext>
                </a:extLst>
              </a:tr>
              <a:tr h="956284">
                <a:tc>
                  <a:txBody>
                    <a:bodyPr/>
                    <a:lstStyle/>
                    <a:p>
                      <a:pPr>
                        <a:lnSpc>
                          <a:spcPct val="115000"/>
                        </a:lnSpc>
                        <a:spcAft>
                          <a:spcPts val="1000"/>
                        </a:spcAft>
                      </a:pPr>
                      <a:r>
                        <a:rPr lang="en-US" sz="1600" kern="1200">
                          <a:effectLst/>
                        </a:rPr>
                        <a:t> valid Customer ID and invalid password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nSpc>
                          <a:spcPct val="115000"/>
                        </a:lnSpc>
                        <a:spcAft>
                          <a:spcPts val="1000"/>
                        </a:spcAft>
                      </a:pPr>
                      <a:r>
                        <a:rPr lang="en-US" sz="1600" kern="1200">
                          <a:effectLst/>
                        </a:rPr>
                        <a:t>  </a:t>
                      </a:r>
                      <a:endParaRPr lang="en-US" sz="1000">
                        <a:effectLst/>
                      </a:endParaRPr>
                    </a:p>
                    <a:p>
                      <a:pPr>
                        <a:lnSpc>
                          <a:spcPct val="115000"/>
                        </a:lnSpc>
                        <a:spcAft>
                          <a:spcPts val="1000"/>
                        </a:spcAft>
                      </a:pPr>
                      <a:r>
                        <a:rPr lang="en-US" sz="1600" kern="1200">
                          <a:effectLst/>
                        </a:rPr>
                        <a:t>valid Customer ID and invalid password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nSpc>
                          <a:spcPct val="115000"/>
                        </a:lnSpc>
                        <a:spcAft>
                          <a:spcPts val="1000"/>
                        </a:spcAft>
                      </a:pPr>
                      <a:r>
                        <a:rPr lang="en-US" sz="1600" kern="1200">
                          <a:effectLst/>
                        </a:rPr>
                        <a:t>  </a:t>
                      </a:r>
                      <a:endParaRPr lang="en-US" sz="1000">
                        <a:effectLst/>
                      </a:endParaRPr>
                    </a:p>
                    <a:p>
                      <a:pPr>
                        <a:lnSpc>
                          <a:spcPct val="115000"/>
                        </a:lnSpc>
                        <a:spcAft>
                          <a:spcPts val="1000"/>
                        </a:spcAft>
                      </a:pPr>
                      <a:r>
                        <a:rPr lang="en-US" sz="1600" kern="1200">
                          <a:effectLst/>
                        </a:rPr>
                        <a:t>Please enter valid password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nSpc>
                          <a:spcPct val="115000"/>
                        </a:lnSpc>
                        <a:spcAft>
                          <a:spcPts val="1000"/>
                        </a:spcAft>
                      </a:pPr>
                      <a:r>
                        <a:rPr lang="en-US" sz="1600" kern="1200">
                          <a:effectLst/>
                        </a:rPr>
                        <a:t>Success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extLst>
                  <a:ext uri="{0D108BD9-81ED-4DB2-BD59-A6C34878D82A}">
                    <a16:rowId xmlns:a16="http://schemas.microsoft.com/office/drawing/2014/main" xmlns="" val="1959765803"/>
                  </a:ext>
                </a:extLst>
              </a:tr>
              <a:tr h="751533">
                <a:tc>
                  <a:txBody>
                    <a:bodyPr/>
                    <a:lstStyle/>
                    <a:p>
                      <a:pPr>
                        <a:lnSpc>
                          <a:spcPct val="115000"/>
                        </a:lnSpc>
                        <a:spcAft>
                          <a:spcPts val="1000"/>
                        </a:spcAft>
                      </a:pPr>
                      <a:r>
                        <a:rPr lang="en-US" sz="1600" kern="1200">
                          <a:effectLst/>
                        </a:rPr>
                        <a:t>invalid Customer ID and password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nSpc>
                          <a:spcPct val="115000"/>
                        </a:lnSpc>
                        <a:spcAft>
                          <a:spcPts val="1000"/>
                        </a:spcAft>
                      </a:pPr>
                      <a:r>
                        <a:rPr lang="en-US" sz="1600" kern="1200">
                          <a:effectLst/>
                        </a:rPr>
                        <a:t>  </a:t>
                      </a:r>
                      <a:endParaRPr lang="en-US" sz="1000">
                        <a:effectLst/>
                      </a:endParaRPr>
                    </a:p>
                    <a:p>
                      <a:pPr>
                        <a:lnSpc>
                          <a:spcPct val="115000"/>
                        </a:lnSpc>
                        <a:spcAft>
                          <a:spcPts val="1000"/>
                        </a:spcAft>
                      </a:pPr>
                      <a:r>
                        <a:rPr lang="en-US" sz="1600" kern="1200">
                          <a:effectLst/>
                        </a:rPr>
                        <a:t>invalid Customer ID and password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nSpc>
                          <a:spcPct val="115000"/>
                        </a:lnSpc>
                        <a:spcAft>
                          <a:spcPts val="1000"/>
                        </a:spcAft>
                      </a:pPr>
                      <a:r>
                        <a:rPr lang="en-US" sz="1600" kern="1200">
                          <a:effectLst/>
                        </a:rPr>
                        <a:t>  </a:t>
                      </a:r>
                      <a:endParaRPr lang="en-US" sz="1000">
                        <a:effectLst/>
                      </a:endParaRPr>
                    </a:p>
                    <a:p>
                      <a:pPr>
                        <a:lnSpc>
                          <a:spcPct val="115000"/>
                        </a:lnSpc>
                        <a:spcAft>
                          <a:spcPts val="1000"/>
                        </a:spcAft>
                      </a:pPr>
                      <a:r>
                        <a:rPr lang="en-US" sz="1600" kern="1200">
                          <a:effectLst/>
                        </a:rPr>
                        <a:t>Please enter valid password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nSpc>
                          <a:spcPct val="115000"/>
                        </a:lnSpc>
                        <a:spcAft>
                          <a:spcPts val="1000"/>
                        </a:spcAft>
                      </a:pPr>
                      <a:r>
                        <a:rPr lang="en-US" sz="1600" kern="1200">
                          <a:effectLst/>
                        </a:rPr>
                        <a:t>  </a:t>
                      </a:r>
                      <a:endParaRPr lang="en-US" sz="1000">
                        <a:effectLst/>
                      </a:endParaRPr>
                    </a:p>
                    <a:p>
                      <a:pPr>
                        <a:lnSpc>
                          <a:spcPct val="115000"/>
                        </a:lnSpc>
                        <a:spcAft>
                          <a:spcPts val="1000"/>
                        </a:spcAft>
                      </a:pPr>
                      <a:r>
                        <a:rPr lang="en-US" sz="1600" kern="1200">
                          <a:effectLst/>
                        </a:rPr>
                        <a:t>Success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extLst>
                  <a:ext uri="{0D108BD9-81ED-4DB2-BD59-A6C34878D82A}">
                    <a16:rowId xmlns:a16="http://schemas.microsoft.com/office/drawing/2014/main" xmlns="" val="2220337891"/>
                  </a:ext>
                </a:extLst>
              </a:tr>
              <a:tr h="662038">
                <a:tc>
                  <a:txBody>
                    <a:bodyPr/>
                    <a:lstStyle/>
                    <a:p>
                      <a:pPr>
                        <a:lnSpc>
                          <a:spcPct val="115000"/>
                        </a:lnSpc>
                        <a:spcAft>
                          <a:spcPts val="1000"/>
                        </a:spcAft>
                      </a:pPr>
                      <a:r>
                        <a:rPr lang="en-US" sz="1600" kern="1200">
                          <a:effectLst/>
                        </a:rPr>
                        <a:t>no Customer ID and password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nSpc>
                          <a:spcPct val="115000"/>
                        </a:lnSpc>
                        <a:spcAft>
                          <a:spcPts val="1000"/>
                        </a:spcAft>
                      </a:pPr>
                      <a:r>
                        <a:rPr lang="en-US" sz="1600" kern="1200">
                          <a:effectLst/>
                        </a:rPr>
                        <a:t>no Customer ID and password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nSpc>
                          <a:spcPct val="115000"/>
                        </a:lnSpc>
                        <a:spcAft>
                          <a:spcPts val="1000"/>
                        </a:spcAft>
                      </a:pPr>
                      <a:r>
                        <a:rPr lang="en-US" sz="1600" kern="1200">
                          <a:effectLst/>
                        </a:rPr>
                        <a:t>Please enter  Customer ID and password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tc>
                  <a:txBody>
                    <a:bodyPr/>
                    <a:lstStyle/>
                    <a:p>
                      <a:pPr>
                        <a:lnSpc>
                          <a:spcPct val="115000"/>
                        </a:lnSpc>
                        <a:spcAft>
                          <a:spcPts val="1000"/>
                        </a:spcAft>
                      </a:pPr>
                      <a:r>
                        <a:rPr lang="en-US" sz="1600" kern="1200" dirty="0">
                          <a:effectLst/>
                        </a:rPr>
                        <a:t>Success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90" marR="4590" marT="4590" marB="0"/>
                </a:tc>
                <a:extLst>
                  <a:ext uri="{0D108BD9-81ED-4DB2-BD59-A6C34878D82A}">
                    <a16:rowId xmlns:a16="http://schemas.microsoft.com/office/drawing/2014/main" xmlns="" val="1141968401"/>
                  </a:ext>
                </a:extLst>
              </a:tr>
            </a:tbl>
          </a:graphicData>
        </a:graphic>
      </p:graphicFrame>
      <p:sp>
        <p:nvSpPr>
          <p:cNvPr id="10" name="Rectangle 2">
            <a:extLst>
              <a:ext uri="{FF2B5EF4-FFF2-40B4-BE49-F238E27FC236}">
                <a16:creationId xmlns:a16="http://schemas.microsoft.com/office/drawing/2014/main" xmlns="" id="{2938BF14-B77F-4822-B727-2903DA933500}"/>
              </a:ext>
            </a:extLst>
          </p:cNvPr>
          <p:cNvSpPr>
            <a:spLocks noChangeArrowheads="1"/>
          </p:cNvSpPr>
          <p:nvPr/>
        </p:nvSpPr>
        <p:spPr bwMode="auto">
          <a:xfrm>
            <a:off x="1104900" y="1824038"/>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xmlns="" val="167071410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D27DEE-92A9-485B-BAAF-591CB8101BBC}"/>
              </a:ext>
            </a:extLst>
          </p:cNvPr>
          <p:cNvSpPr>
            <a:spLocks noGrp="1"/>
          </p:cNvSpPr>
          <p:nvPr>
            <p:ph type="title"/>
          </p:nvPr>
        </p:nvSpPr>
        <p:spPr>
          <a:xfrm>
            <a:off x="1096108" y="76200"/>
            <a:ext cx="9980682" cy="1096962"/>
          </a:xfrm>
        </p:spPr>
        <p:txBody>
          <a:bodyPr>
            <a:noAutofit/>
          </a:bodyPr>
          <a:lstStyle/>
          <a:p>
            <a:pPr eaLnBrk="1" hangingPunct="1"/>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
            </a:r>
            <a:br>
              <a:rPr lang="en-US" altLang="en-US" sz="1400" b="1" dirty="0">
                <a:latin typeface="Times New Roman" pitchFamily="18" charset="0"/>
                <a:ea typeface="Calibri" pitchFamily="34" charset="0"/>
                <a:cs typeface="Times New Roman" pitchFamily="18" charset="0"/>
              </a:rPr>
            </a:br>
            <a:r>
              <a:rPr lang="en-US" altLang="en-US" sz="1400" dirty="0">
                <a:ea typeface="Calibri" pitchFamily="34" charset="0"/>
                <a:cs typeface="Times New Roman" pitchFamily="18" charset="0"/>
              </a:rPr>
              <a:t/>
            </a:r>
            <a:br>
              <a:rPr lang="en-US" altLang="en-US" sz="1400" dirty="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Testcase 1: Customer login</a:t>
            </a:r>
            <a:r>
              <a:rPr lang="en-US" altLang="en-US" sz="1400" dirty="0">
                <a:ea typeface="Calibri" pitchFamily="34" charset="0"/>
                <a:cs typeface="Times New Roman" pitchFamily="18" charset="0"/>
              </a:rPr>
              <a:t/>
            </a:r>
            <a:br>
              <a:rPr lang="en-US" altLang="en-US" sz="1400" dirty="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Scenario 1:</a:t>
            </a:r>
            <a:r>
              <a:rPr lang="en-US" altLang="en-US" sz="1400" dirty="0">
                <a:ea typeface="Calibri" pitchFamily="34" charset="0"/>
                <a:cs typeface="Times New Roman" pitchFamily="18" charset="0"/>
              </a:rPr>
              <a:t/>
            </a:r>
            <a:br>
              <a:rPr lang="en-US" altLang="en-US" sz="1400" dirty="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Input</a:t>
            </a:r>
            <a:r>
              <a:rPr lang="en-US" altLang="en-US" sz="1400" dirty="0">
                <a:latin typeface="Times New Roman" pitchFamily="18" charset="0"/>
                <a:ea typeface="Calibri" pitchFamily="34" charset="0"/>
                <a:cs typeface="Times New Roman" pitchFamily="18" charset="0"/>
              </a:rPr>
              <a:t> : valid Customer name and password</a:t>
            </a:r>
            <a:r>
              <a:rPr lang="en-US" altLang="en-US" sz="1400" dirty="0">
                <a:ea typeface="Calibri" pitchFamily="34" charset="0"/>
                <a:cs typeface="Times New Roman" pitchFamily="18" charset="0"/>
              </a:rPr>
              <a:t/>
            </a:r>
            <a:br>
              <a:rPr lang="en-US" altLang="en-US" sz="1400" dirty="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Expected </a:t>
            </a:r>
            <a:r>
              <a:rPr lang="en-US" altLang="en-US" sz="1400" b="1" dirty="0" err="1">
                <a:latin typeface="Times New Roman" pitchFamily="18" charset="0"/>
                <a:ea typeface="Calibri" pitchFamily="34" charset="0"/>
                <a:cs typeface="Times New Roman" pitchFamily="18" charset="0"/>
              </a:rPr>
              <a:t>behaviour</a:t>
            </a:r>
            <a:r>
              <a:rPr lang="en-US" altLang="en-US" sz="1400" dirty="0">
                <a:latin typeface="Times New Roman" pitchFamily="18" charset="0"/>
                <a:ea typeface="Calibri" pitchFamily="34" charset="0"/>
                <a:cs typeface="Times New Roman" pitchFamily="18" charset="0"/>
              </a:rPr>
              <a:t> : Successful login</a:t>
            </a:r>
            <a:r>
              <a:rPr lang="en-US" altLang="en-US" sz="1400" dirty="0">
                <a:ea typeface="Calibri" pitchFamily="34" charset="0"/>
                <a:cs typeface="Times New Roman" pitchFamily="18" charset="0"/>
              </a:rPr>
              <a:t/>
            </a:r>
            <a:br>
              <a:rPr lang="en-US" altLang="en-US" sz="1400" dirty="0">
                <a:ea typeface="Calibri" pitchFamily="34" charset="0"/>
                <a:cs typeface="Times New Roman" pitchFamily="18" charset="0"/>
              </a:rPr>
            </a:br>
            <a:r>
              <a:rPr lang="en-US" altLang="en-US" sz="1400" b="1" dirty="0">
                <a:latin typeface="Times New Roman" pitchFamily="18" charset="0"/>
                <a:ea typeface="Calibri" pitchFamily="34" charset="0"/>
                <a:cs typeface="Times New Roman" pitchFamily="18" charset="0"/>
              </a:rPr>
              <a:t>Actual </a:t>
            </a:r>
            <a:r>
              <a:rPr lang="en-US" altLang="en-US" sz="1400" b="1" dirty="0" err="1">
                <a:latin typeface="Times New Roman" pitchFamily="18" charset="0"/>
                <a:ea typeface="Calibri" pitchFamily="34" charset="0"/>
                <a:cs typeface="Times New Roman" pitchFamily="18" charset="0"/>
              </a:rPr>
              <a:t>behaviour</a:t>
            </a:r>
            <a:r>
              <a:rPr lang="en-US" altLang="en-US" sz="1400" dirty="0">
                <a:latin typeface="Times New Roman" pitchFamily="18" charset="0"/>
                <a:ea typeface="Calibri" pitchFamily="34" charset="0"/>
                <a:cs typeface="Times New Roman" pitchFamily="18" charset="0"/>
              </a:rPr>
              <a:t>: Successful login</a:t>
            </a:r>
            <a:r>
              <a:rPr lang="en-US" altLang="en-US" sz="1400" dirty="0">
                <a:ea typeface="Calibri" pitchFamily="34" charset="0"/>
                <a:cs typeface="Times New Roman" pitchFamily="18" charset="0"/>
              </a:rPr>
              <a:t/>
            </a:r>
            <a:br>
              <a:rPr lang="en-US" altLang="en-US" sz="1400" dirty="0">
                <a:ea typeface="Calibri" pitchFamily="34" charset="0"/>
                <a:cs typeface="Times New Roman" pitchFamily="18" charset="0"/>
              </a:rPr>
            </a:br>
            <a:r>
              <a:rPr lang="en-US" altLang="en-US" sz="1400" b="1" dirty="0" err="1">
                <a:ea typeface="Calibri" pitchFamily="34" charset="0"/>
                <a:cs typeface="Times New Roman" pitchFamily="18" charset="0"/>
              </a:rPr>
              <a:t>Status:</a:t>
            </a:r>
            <a:r>
              <a:rPr lang="en-US" altLang="en-US" sz="1400" dirty="0" err="1">
                <a:ea typeface="Calibri" pitchFamily="34" charset="0"/>
                <a:cs typeface="Times New Roman" pitchFamily="18" charset="0"/>
              </a:rPr>
              <a:t>Pass</a:t>
            </a:r>
            <a:endParaRPr lang="en-IN" sz="1400" dirty="0"/>
          </a:p>
        </p:txBody>
      </p:sp>
      <p:pic>
        <p:nvPicPr>
          <p:cNvPr id="4" name="Content Placeholder 3" descr="Screenshot (186).png"/>
          <p:cNvPicPr>
            <a:picLocks noGrp="1" noChangeAspect="1"/>
          </p:cNvPicPr>
          <p:nvPr>
            <p:ph idx="1"/>
          </p:nvPr>
        </p:nvPicPr>
        <p:blipFill>
          <a:blip r:embed="rId2" cstate="print"/>
          <a:stretch>
            <a:fillRect/>
          </a:stretch>
        </p:blipFill>
        <p:spPr>
          <a:xfrm>
            <a:off x="1117599" y="1600200"/>
            <a:ext cx="9973733" cy="4572000"/>
          </a:xfrm>
        </p:spPr>
      </p:pic>
    </p:spTree>
    <p:extLst>
      <p:ext uri="{BB962C8B-B14F-4D97-AF65-F5344CB8AC3E}">
        <p14:creationId xmlns:p14="http://schemas.microsoft.com/office/powerpoint/2010/main" xmlns="" val="8795735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E1F8E7-7C92-4252-AC05-48999EA24F55}"/>
              </a:ext>
            </a:extLst>
          </p:cNvPr>
          <p:cNvSpPr>
            <a:spLocks noGrp="1"/>
          </p:cNvSpPr>
          <p:nvPr>
            <p:ph type="title"/>
          </p:nvPr>
        </p:nvSpPr>
        <p:spPr/>
        <p:txBody>
          <a:bodyPr/>
          <a:lstStyle/>
          <a:p>
            <a:r>
              <a:rPr lang="en-US" dirty="0"/>
              <a:t>Output:</a:t>
            </a:r>
            <a:endParaRPr lang="en-IN" dirty="0"/>
          </a:p>
        </p:txBody>
      </p:sp>
      <p:pic>
        <p:nvPicPr>
          <p:cNvPr id="4" name="Content Placeholder 3" descr="Screenshot (188).png"/>
          <p:cNvPicPr>
            <a:picLocks noGrp="1" noChangeAspect="1"/>
          </p:cNvPicPr>
          <p:nvPr>
            <p:ph idx="1"/>
          </p:nvPr>
        </p:nvPicPr>
        <p:blipFill>
          <a:blip r:embed="rId2" cstate="print"/>
          <a:stretch>
            <a:fillRect/>
          </a:stretch>
        </p:blipFill>
        <p:spPr>
          <a:xfrm>
            <a:off x="1185333" y="1600200"/>
            <a:ext cx="9914467" cy="4572000"/>
          </a:xfrm>
        </p:spPr>
      </p:pic>
    </p:spTree>
    <p:extLst>
      <p:ext uri="{BB962C8B-B14F-4D97-AF65-F5344CB8AC3E}">
        <p14:creationId xmlns:p14="http://schemas.microsoft.com/office/powerpoint/2010/main" xmlns="" val="190082887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17ADDC-8D74-47BB-9250-761E9DCB2FC1}"/>
              </a:ext>
            </a:extLst>
          </p:cNvPr>
          <p:cNvSpPr>
            <a:spLocks noGrp="1"/>
          </p:cNvSpPr>
          <p:nvPr>
            <p:ph type="title"/>
          </p:nvPr>
        </p:nvSpPr>
        <p:spPr/>
        <p:txBody>
          <a:bodyPr>
            <a:normAutofit/>
          </a:bodyPr>
          <a:lstStyle/>
          <a:p>
            <a:pPr eaLnBrk="1" hangingPunct="1"/>
            <a:r>
              <a:rPr lang="en-US" altLang="en-US" sz="1200" b="1" dirty="0">
                <a:latin typeface="Times New Roman" pitchFamily="18" charset="0"/>
                <a:ea typeface="Calibri" pitchFamily="34" charset="0"/>
                <a:cs typeface="Times New Roman" pitchFamily="18" charset="0"/>
              </a:rPr>
              <a:t>Scenario 2:</a:t>
            </a:r>
            <a:r>
              <a:rPr lang="en-US" altLang="en-US" sz="1200" dirty="0">
                <a:ea typeface="Calibri" pitchFamily="34" charset="0"/>
                <a:cs typeface="Times New Roman" pitchFamily="18" charset="0"/>
              </a:rPr>
              <a:t/>
            </a:r>
            <a:br>
              <a:rPr lang="en-US" altLang="en-US" sz="1200" dirty="0">
                <a:ea typeface="Calibri" pitchFamily="34" charset="0"/>
                <a:cs typeface="Times New Roman" pitchFamily="18" charset="0"/>
              </a:rPr>
            </a:br>
            <a:r>
              <a:rPr lang="en-US" altLang="en-US" sz="1200" b="1" dirty="0">
                <a:latin typeface="Calibri" pitchFamily="34" charset="0"/>
                <a:ea typeface="Calibri" pitchFamily="34" charset="0"/>
                <a:cs typeface="Times New Roman" pitchFamily="18" charset="0"/>
              </a:rPr>
              <a:t>Input</a:t>
            </a:r>
            <a:r>
              <a:rPr lang="en-US" altLang="en-US" sz="1200" dirty="0">
                <a:latin typeface="Calibri" pitchFamily="34" charset="0"/>
                <a:ea typeface="Calibri" pitchFamily="34" charset="0"/>
                <a:cs typeface="Times New Roman" pitchFamily="18" charset="0"/>
              </a:rPr>
              <a:t> : Invalid username and valid password</a:t>
            </a:r>
            <a:r>
              <a:rPr lang="en-US" altLang="en-US" sz="1200" dirty="0">
                <a:ea typeface="Calibri" pitchFamily="34" charset="0"/>
                <a:cs typeface="Times New Roman" pitchFamily="18" charset="0"/>
              </a:rPr>
              <a:t/>
            </a:r>
            <a:br>
              <a:rPr lang="en-US" altLang="en-US" sz="1200" dirty="0">
                <a:ea typeface="Calibri" pitchFamily="34" charset="0"/>
                <a:cs typeface="Times New Roman" pitchFamily="18" charset="0"/>
              </a:rPr>
            </a:br>
            <a:r>
              <a:rPr lang="en-US" altLang="en-US" sz="1200" b="1" dirty="0">
                <a:latin typeface="Calibri" pitchFamily="34" charset="0"/>
                <a:ea typeface="Calibri" pitchFamily="34" charset="0"/>
                <a:cs typeface="Times New Roman" pitchFamily="18" charset="0"/>
              </a:rPr>
              <a:t>Expected </a:t>
            </a:r>
            <a:r>
              <a:rPr lang="en-US" altLang="en-US" sz="1200" b="1" dirty="0" err="1">
                <a:latin typeface="Calibri" pitchFamily="34" charset="0"/>
                <a:ea typeface="Calibri" pitchFamily="34" charset="0"/>
                <a:cs typeface="Times New Roman" pitchFamily="18" charset="0"/>
              </a:rPr>
              <a:t>behaviour</a:t>
            </a:r>
            <a:r>
              <a:rPr lang="en-US" altLang="en-US" sz="1200" dirty="0">
                <a:latin typeface="Calibri" pitchFamily="34" charset="0"/>
                <a:ea typeface="Calibri" pitchFamily="34" charset="0"/>
                <a:cs typeface="Times New Roman" pitchFamily="18" charset="0"/>
              </a:rPr>
              <a:t>: Please  enter valid username</a:t>
            </a:r>
            <a:r>
              <a:rPr lang="en-US" altLang="en-US" sz="1200" dirty="0">
                <a:ea typeface="Calibri" pitchFamily="34" charset="0"/>
                <a:cs typeface="Times New Roman" pitchFamily="18" charset="0"/>
              </a:rPr>
              <a:t/>
            </a:r>
            <a:br>
              <a:rPr lang="en-US" altLang="en-US" sz="1200" dirty="0">
                <a:ea typeface="Calibri" pitchFamily="34" charset="0"/>
                <a:cs typeface="Times New Roman" pitchFamily="18" charset="0"/>
              </a:rPr>
            </a:br>
            <a:r>
              <a:rPr lang="en-US" altLang="en-US" sz="1200" b="1" dirty="0">
                <a:latin typeface="Calibri" pitchFamily="34" charset="0"/>
                <a:ea typeface="Calibri" pitchFamily="34" charset="0"/>
                <a:cs typeface="Times New Roman" pitchFamily="18" charset="0"/>
              </a:rPr>
              <a:t>Actual </a:t>
            </a:r>
            <a:r>
              <a:rPr lang="en-US" altLang="en-US" sz="1200" b="1" dirty="0" err="1">
                <a:latin typeface="Calibri" pitchFamily="34" charset="0"/>
                <a:ea typeface="Calibri" pitchFamily="34" charset="0"/>
                <a:cs typeface="Times New Roman" pitchFamily="18" charset="0"/>
              </a:rPr>
              <a:t>behaviour</a:t>
            </a:r>
            <a:r>
              <a:rPr lang="en-US" altLang="en-US" sz="1200" dirty="0">
                <a:latin typeface="Calibri" pitchFamily="34" charset="0"/>
                <a:ea typeface="Calibri" pitchFamily="34" charset="0"/>
                <a:cs typeface="Times New Roman" pitchFamily="18" charset="0"/>
              </a:rPr>
              <a:t>: Enter valid username</a:t>
            </a:r>
            <a:r>
              <a:rPr lang="en-US" altLang="en-US" sz="1200" dirty="0">
                <a:ea typeface="Calibri" pitchFamily="34" charset="0"/>
                <a:cs typeface="Times New Roman" pitchFamily="18" charset="0"/>
              </a:rPr>
              <a:t/>
            </a:r>
            <a:br>
              <a:rPr lang="en-US" altLang="en-US" sz="1200" dirty="0">
                <a:ea typeface="Calibri" pitchFamily="34" charset="0"/>
                <a:cs typeface="Times New Roman" pitchFamily="18" charset="0"/>
              </a:rPr>
            </a:br>
            <a:r>
              <a:rPr lang="en-US" altLang="en-US" sz="1200" b="1" dirty="0">
                <a:latin typeface="Calibri" pitchFamily="34" charset="0"/>
                <a:ea typeface="Calibri" pitchFamily="34" charset="0"/>
                <a:cs typeface="Times New Roman" pitchFamily="18" charset="0"/>
              </a:rPr>
              <a:t>Status</a:t>
            </a:r>
            <a:r>
              <a:rPr lang="en-US" altLang="en-US" sz="1200" dirty="0">
                <a:latin typeface="Calibri" pitchFamily="34" charset="0"/>
                <a:ea typeface="Calibri" pitchFamily="34" charset="0"/>
                <a:cs typeface="Times New Roman" pitchFamily="18" charset="0"/>
              </a:rPr>
              <a:t>: Pass</a:t>
            </a:r>
            <a:r>
              <a:rPr lang="en-US" altLang="en-US" sz="1200" dirty="0">
                <a:ea typeface="Calibri" pitchFamily="34" charset="0"/>
                <a:cs typeface="Times New Roman" pitchFamily="18" charset="0"/>
              </a:rPr>
              <a:t/>
            </a:r>
            <a:br>
              <a:rPr lang="en-US" altLang="en-US" sz="1200" dirty="0">
                <a:ea typeface="Calibri" pitchFamily="34" charset="0"/>
                <a:cs typeface="Times New Roman" pitchFamily="18" charset="0"/>
              </a:rPr>
            </a:br>
            <a:endParaRPr lang="en-IN" sz="1200" dirty="0"/>
          </a:p>
        </p:txBody>
      </p:sp>
      <p:pic>
        <p:nvPicPr>
          <p:cNvPr id="4" name="Content Placeholder 3" descr="Screenshot (189).png"/>
          <p:cNvPicPr>
            <a:picLocks noGrp="1" noChangeAspect="1"/>
          </p:cNvPicPr>
          <p:nvPr>
            <p:ph idx="1"/>
          </p:nvPr>
        </p:nvPicPr>
        <p:blipFill>
          <a:blip r:embed="rId2" cstate="print"/>
          <a:stretch>
            <a:fillRect/>
          </a:stretch>
        </p:blipFill>
        <p:spPr>
          <a:xfrm>
            <a:off x="1126067" y="1600200"/>
            <a:ext cx="9956800" cy="4572000"/>
          </a:xfrm>
        </p:spPr>
      </p:pic>
    </p:spTree>
    <p:extLst>
      <p:ext uri="{BB962C8B-B14F-4D97-AF65-F5344CB8AC3E}">
        <p14:creationId xmlns:p14="http://schemas.microsoft.com/office/powerpoint/2010/main" xmlns="" val="382267571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1C919F-CE5F-4C56-B9D4-A33E30C778C9}"/>
              </a:ext>
            </a:extLst>
          </p:cNvPr>
          <p:cNvSpPr>
            <a:spLocks noGrp="1"/>
          </p:cNvSpPr>
          <p:nvPr>
            <p:ph type="title"/>
          </p:nvPr>
        </p:nvSpPr>
        <p:spPr/>
        <p:txBody>
          <a:bodyPr>
            <a:normAutofit/>
          </a:bodyPr>
          <a:lstStyle/>
          <a:p>
            <a:pPr eaLnBrk="1" hangingPunct="1"/>
            <a:r>
              <a:rPr lang="en-US" altLang="en-US" sz="1100" b="1" dirty="0">
                <a:latin typeface="Calibri" pitchFamily="34" charset="0"/>
                <a:cs typeface="Times New Roman" pitchFamily="18" charset="0"/>
              </a:rPr>
              <a:t>Scenario 3 : valid username and invalid password</a:t>
            </a:r>
            <a:r>
              <a:rPr lang="en-US" altLang="en-US" sz="1100" dirty="0"/>
              <a:t/>
            </a:r>
            <a:br>
              <a:rPr lang="en-US" altLang="en-US" sz="1100" dirty="0"/>
            </a:br>
            <a:r>
              <a:rPr lang="en-US" altLang="en-US" sz="1100" b="1" dirty="0">
                <a:latin typeface="Calibri" pitchFamily="34" charset="0"/>
                <a:cs typeface="Times New Roman" pitchFamily="18" charset="0"/>
              </a:rPr>
              <a:t>Input</a:t>
            </a:r>
            <a:r>
              <a:rPr lang="en-US" altLang="en-US" sz="1100" dirty="0">
                <a:latin typeface="Calibri" pitchFamily="34" charset="0"/>
                <a:cs typeface="Times New Roman" pitchFamily="18" charset="0"/>
              </a:rPr>
              <a:t>: valid username and invalid password</a:t>
            </a:r>
            <a:r>
              <a:rPr lang="en-US" altLang="en-US" sz="1100" dirty="0"/>
              <a:t/>
            </a:r>
            <a:br>
              <a:rPr lang="en-US" altLang="en-US" sz="1100" dirty="0"/>
            </a:br>
            <a:r>
              <a:rPr lang="en-US" altLang="en-US" sz="1100" b="1" dirty="0">
                <a:latin typeface="Calibri" pitchFamily="34" charset="0"/>
                <a:cs typeface="Times New Roman" pitchFamily="18" charset="0"/>
              </a:rPr>
              <a:t>Expected </a:t>
            </a:r>
            <a:r>
              <a:rPr lang="en-US" altLang="en-US" sz="1100" b="1" dirty="0" err="1">
                <a:latin typeface="Calibri" pitchFamily="34" charset="0"/>
                <a:cs typeface="Times New Roman" pitchFamily="18" charset="0"/>
              </a:rPr>
              <a:t>behaviour</a:t>
            </a:r>
            <a:r>
              <a:rPr lang="en-US" altLang="en-US" sz="1100" dirty="0">
                <a:latin typeface="Calibri" pitchFamily="34" charset="0"/>
                <a:cs typeface="Times New Roman" pitchFamily="18" charset="0"/>
              </a:rPr>
              <a:t> : Please enter valid password</a:t>
            </a:r>
            <a:r>
              <a:rPr lang="en-US" altLang="en-US" sz="1100" dirty="0"/>
              <a:t/>
            </a:r>
            <a:br>
              <a:rPr lang="en-US" altLang="en-US" sz="1100" dirty="0"/>
            </a:br>
            <a:r>
              <a:rPr lang="en-US" altLang="en-US" sz="1100" b="1" dirty="0">
                <a:latin typeface="Calibri" pitchFamily="34" charset="0"/>
                <a:cs typeface="Times New Roman" pitchFamily="18" charset="0"/>
              </a:rPr>
              <a:t>Actual </a:t>
            </a:r>
            <a:r>
              <a:rPr lang="en-US" altLang="en-US" sz="1100" b="1" dirty="0" err="1">
                <a:latin typeface="Calibri" pitchFamily="34" charset="0"/>
                <a:cs typeface="Times New Roman" pitchFamily="18" charset="0"/>
              </a:rPr>
              <a:t>behaviour</a:t>
            </a:r>
            <a:r>
              <a:rPr lang="en-US" altLang="en-US" sz="1100" dirty="0">
                <a:latin typeface="Calibri" pitchFamily="34" charset="0"/>
                <a:cs typeface="Times New Roman" pitchFamily="18" charset="0"/>
              </a:rPr>
              <a:t>: Enter valid password</a:t>
            </a:r>
            <a:r>
              <a:rPr lang="en-US" altLang="en-US" sz="1100" dirty="0"/>
              <a:t/>
            </a:r>
            <a:br>
              <a:rPr lang="en-US" altLang="en-US" sz="1100" dirty="0"/>
            </a:br>
            <a:r>
              <a:rPr lang="en-US" altLang="en-US" sz="1100" b="1" dirty="0">
                <a:latin typeface="Calibri" pitchFamily="34" charset="0"/>
                <a:cs typeface="Times New Roman" pitchFamily="18" charset="0"/>
              </a:rPr>
              <a:t>Status</a:t>
            </a:r>
            <a:r>
              <a:rPr lang="en-US" altLang="en-US" sz="1100" dirty="0">
                <a:latin typeface="Calibri" pitchFamily="34" charset="0"/>
                <a:cs typeface="Times New Roman" pitchFamily="18" charset="0"/>
              </a:rPr>
              <a:t> : Pass</a:t>
            </a:r>
            <a:r>
              <a:rPr lang="en-US" altLang="en-US" sz="1100" dirty="0"/>
              <a:t/>
            </a:r>
            <a:br>
              <a:rPr lang="en-US" altLang="en-US" sz="1100" dirty="0"/>
            </a:br>
            <a:r>
              <a:rPr lang="en-US" sz="1100" dirty="0"/>
              <a:t>:</a:t>
            </a:r>
            <a:endParaRPr lang="en-IN" sz="1100" dirty="0"/>
          </a:p>
        </p:txBody>
      </p:sp>
      <p:pic>
        <p:nvPicPr>
          <p:cNvPr id="4" name="Content Placeholder 3" descr="Screenshot (189).png"/>
          <p:cNvPicPr>
            <a:picLocks noGrp="1" noChangeAspect="1"/>
          </p:cNvPicPr>
          <p:nvPr>
            <p:ph idx="1"/>
          </p:nvPr>
        </p:nvPicPr>
        <p:blipFill>
          <a:blip r:embed="rId2" cstate="print"/>
          <a:stretch>
            <a:fillRect/>
          </a:stretch>
        </p:blipFill>
        <p:spPr>
          <a:xfrm>
            <a:off x="1159933" y="1600200"/>
            <a:ext cx="9973734" cy="4572000"/>
          </a:xfrm>
        </p:spPr>
      </p:pic>
    </p:spTree>
    <p:extLst>
      <p:ext uri="{BB962C8B-B14F-4D97-AF65-F5344CB8AC3E}">
        <p14:creationId xmlns:p14="http://schemas.microsoft.com/office/powerpoint/2010/main" xmlns="" val="36974342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243EED-090C-4598-BE62-D70697606C41}"/>
              </a:ext>
            </a:extLst>
          </p:cNvPr>
          <p:cNvSpPr>
            <a:spLocks noGrp="1"/>
          </p:cNvSpPr>
          <p:nvPr>
            <p:ph type="title"/>
          </p:nvPr>
        </p:nvSpPr>
        <p:spPr/>
        <p:txBody>
          <a:bodyPr>
            <a:noAutofit/>
          </a:bodyPr>
          <a:lstStyle/>
          <a:p>
            <a:pPr indent="457200" eaLnBrk="1" hangingPunct="1"/>
            <a:r>
              <a:rPr lang="en-US" altLang="en-US" sz="1100" b="1" dirty="0">
                <a:latin typeface="Calibri" pitchFamily="34" charset="0"/>
                <a:cs typeface="Times New Roman" pitchFamily="18" charset="0"/>
              </a:rPr>
              <a:t>Scenario 4 : </a:t>
            </a:r>
            <a:r>
              <a:rPr lang="en-US" altLang="en-US" sz="1100" b="1" dirty="0" smtClean="0">
                <a:latin typeface="Calibri" pitchFamily="34" charset="0"/>
                <a:cs typeface="Times New Roman" pitchFamily="18" charset="0"/>
              </a:rPr>
              <a:t>invalid username and password</a:t>
            </a:r>
            <a:r>
              <a:rPr lang="en-US" altLang="en-US" sz="1100" dirty="0" smtClean="0"/>
              <a:t/>
            </a:r>
            <a:br>
              <a:rPr lang="en-US" altLang="en-US" sz="1100" dirty="0" smtClean="0"/>
            </a:br>
            <a:r>
              <a:rPr lang="en-US" altLang="en-US" sz="1100" b="1" dirty="0" smtClean="0">
                <a:latin typeface="Calibri" pitchFamily="34" charset="0"/>
                <a:cs typeface="Times New Roman" pitchFamily="18" charset="0"/>
              </a:rPr>
              <a:t>Input</a:t>
            </a:r>
            <a:r>
              <a:rPr lang="en-US" altLang="en-US" sz="1100" dirty="0" smtClean="0">
                <a:latin typeface="Calibri" pitchFamily="34" charset="0"/>
                <a:cs typeface="Times New Roman" pitchFamily="18" charset="0"/>
              </a:rPr>
              <a:t> : invalid username and password</a:t>
            </a:r>
            <a:r>
              <a:rPr lang="en-US" altLang="en-US" sz="1100" dirty="0" smtClean="0"/>
              <a:t/>
            </a:r>
            <a:br>
              <a:rPr lang="en-US" altLang="en-US" sz="1100" dirty="0" smtClean="0"/>
            </a:br>
            <a:r>
              <a:rPr lang="en-US" altLang="en-US" sz="1100" b="1" dirty="0" smtClean="0">
                <a:latin typeface="Calibri" pitchFamily="34" charset="0"/>
                <a:cs typeface="Times New Roman" pitchFamily="18" charset="0"/>
              </a:rPr>
              <a:t>Expected </a:t>
            </a:r>
            <a:r>
              <a:rPr lang="en-US" altLang="en-US" sz="1100" b="1" dirty="0" err="1" smtClean="0">
                <a:latin typeface="Calibri" pitchFamily="34" charset="0"/>
                <a:cs typeface="Times New Roman" pitchFamily="18" charset="0"/>
              </a:rPr>
              <a:t>behaviour</a:t>
            </a:r>
            <a:r>
              <a:rPr lang="en-US" altLang="en-US" sz="1100" dirty="0" smtClean="0">
                <a:latin typeface="Calibri" pitchFamily="34" charset="0"/>
                <a:cs typeface="Times New Roman" pitchFamily="18" charset="0"/>
              </a:rPr>
              <a:t> : Please enter valid username and password</a:t>
            </a:r>
            <a:r>
              <a:rPr lang="en-US" altLang="en-US" sz="1100" dirty="0" smtClean="0"/>
              <a:t/>
            </a:r>
            <a:br>
              <a:rPr lang="en-US" altLang="en-US" sz="1100" dirty="0" smtClean="0"/>
            </a:br>
            <a:r>
              <a:rPr lang="en-US" altLang="en-US" sz="1100" b="1" dirty="0" smtClean="0">
                <a:latin typeface="Calibri" pitchFamily="34" charset="0"/>
                <a:cs typeface="Times New Roman" pitchFamily="18" charset="0"/>
              </a:rPr>
              <a:t>Actual </a:t>
            </a:r>
            <a:r>
              <a:rPr lang="en-US" altLang="en-US" sz="1100" b="1" dirty="0" err="1" smtClean="0">
                <a:latin typeface="Calibri" pitchFamily="34" charset="0"/>
                <a:cs typeface="Times New Roman" pitchFamily="18" charset="0"/>
              </a:rPr>
              <a:t>behaviour</a:t>
            </a:r>
            <a:r>
              <a:rPr lang="en-US" altLang="en-US" sz="1100" dirty="0" smtClean="0">
                <a:latin typeface="Calibri" pitchFamily="34" charset="0"/>
                <a:cs typeface="Times New Roman" pitchFamily="18" charset="0"/>
              </a:rPr>
              <a:t>: Please enter valid username and password</a:t>
            </a:r>
            <a:r>
              <a:rPr lang="en-US" altLang="en-US" sz="1100" dirty="0" smtClean="0"/>
              <a:t/>
            </a:r>
            <a:br>
              <a:rPr lang="en-US" altLang="en-US" sz="1100" dirty="0" smtClean="0"/>
            </a:br>
            <a:r>
              <a:rPr lang="en-US" altLang="en-US" sz="1100" b="1" dirty="0" smtClean="0">
                <a:latin typeface="Calibri" pitchFamily="34" charset="0"/>
                <a:cs typeface="Times New Roman" pitchFamily="18" charset="0"/>
              </a:rPr>
              <a:t>Status</a:t>
            </a:r>
            <a:r>
              <a:rPr lang="en-US" altLang="en-US" sz="1100" dirty="0" smtClean="0">
                <a:latin typeface="Calibri" pitchFamily="34" charset="0"/>
                <a:cs typeface="Times New Roman" pitchFamily="18" charset="0"/>
              </a:rPr>
              <a:t>: pass</a:t>
            </a:r>
            <a:r>
              <a:rPr lang="en-US" altLang="en-US" sz="1100" dirty="0"/>
              <a:t/>
            </a:r>
            <a:br>
              <a:rPr lang="en-US" altLang="en-US" sz="1100" dirty="0"/>
            </a:br>
            <a:r>
              <a:rPr lang="en-US" altLang="en-US" sz="1100" dirty="0"/>
              <a:t/>
            </a:r>
            <a:br>
              <a:rPr lang="en-US" altLang="en-US" sz="1100" dirty="0"/>
            </a:br>
            <a:endParaRPr lang="en-IN" sz="1100" dirty="0"/>
          </a:p>
        </p:txBody>
      </p:sp>
      <p:pic>
        <p:nvPicPr>
          <p:cNvPr id="4" name="Content Placeholder 3" descr="Screenshot (190).png"/>
          <p:cNvPicPr>
            <a:picLocks noGrp="1" noChangeAspect="1"/>
          </p:cNvPicPr>
          <p:nvPr>
            <p:ph idx="1"/>
          </p:nvPr>
        </p:nvPicPr>
        <p:blipFill>
          <a:blip r:embed="rId2" cstate="print"/>
          <a:stretch>
            <a:fillRect/>
          </a:stretch>
        </p:blipFill>
        <p:spPr>
          <a:xfrm>
            <a:off x="1083732" y="1600200"/>
            <a:ext cx="10016067" cy="4572000"/>
          </a:xfrm>
        </p:spPr>
      </p:pic>
    </p:spTree>
    <p:extLst>
      <p:ext uri="{BB962C8B-B14F-4D97-AF65-F5344CB8AC3E}">
        <p14:creationId xmlns:p14="http://schemas.microsoft.com/office/powerpoint/2010/main" xmlns="" val="349486429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F5739C-F026-4FE8-96B3-264BCB70AF9D}"/>
              </a:ext>
            </a:extLst>
          </p:cNvPr>
          <p:cNvSpPr>
            <a:spLocks noGrp="1"/>
          </p:cNvSpPr>
          <p:nvPr>
            <p:ph type="title"/>
          </p:nvPr>
        </p:nvSpPr>
        <p:spPr/>
        <p:txBody>
          <a:bodyPr>
            <a:normAutofit fontScale="90000"/>
          </a:bodyPr>
          <a:lstStyle/>
          <a:p>
            <a:pPr indent="457200"/>
            <a:r>
              <a:rPr lang="en-US" altLang="en-US" sz="1200" b="1" dirty="0">
                <a:latin typeface="Times New Roman" pitchFamily="18" charset="0"/>
                <a:ea typeface="Calibri" pitchFamily="34" charset="0"/>
                <a:cs typeface="Times New Roman" pitchFamily="18" charset="0"/>
              </a:rPr>
              <a:t>Testcase 2: </a:t>
            </a:r>
            <a:r>
              <a:rPr lang="en-US" altLang="en-US" sz="1200" b="1" dirty="0" smtClean="0">
                <a:latin typeface="Times New Roman" pitchFamily="18" charset="0"/>
                <a:ea typeface="Calibri" pitchFamily="34" charset="0"/>
                <a:cs typeface="Times New Roman" pitchFamily="18" charset="0"/>
              </a:rPr>
              <a:t>Admin login</a:t>
            </a:r>
            <a:br>
              <a:rPr lang="en-US" altLang="en-US" sz="1200" b="1" dirty="0" smtClean="0">
                <a:latin typeface="Times New Roman" pitchFamily="18" charset="0"/>
                <a:ea typeface="Calibri" pitchFamily="34" charset="0"/>
                <a:cs typeface="Times New Roman" pitchFamily="18" charset="0"/>
              </a:rPr>
            </a:br>
            <a:r>
              <a:rPr lang="en-US" altLang="en-US" sz="1200" b="1" dirty="0" smtClean="0">
                <a:latin typeface="Times New Roman" pitchFamily="18" charset="0"/>
                <a:ea typeface="Calibri" pitchFamily="34" charset="0"/>
                <a:cs typeface="Times New Roman" pitchFamily="18" charset="0"/>
              </a:rPr>
              <a:t> Scenario 1: </a:t>
            </a:r>
            <a:r>
              <a:rPr lang="en-US" altLang="en-US" sz="1200" b="1" dirty="0" smtClean="0">
                <a:latin typeface="Times New Roman" pitchFamily="18" charset="0"/>
                <a:ea typeface="Calibri" pitchFamily="34" charset="0"/>
                <a:cs typeface="Times New Roman" pitchFamily="18" charset="0"/>
              </a:rPr>
              <a:t/>
            </a:r>
            <a:br>
              <a:rPr lang="en-US" altLang="en-US" sz="1200" b="1" dirty="0" smtClean="0">
                <a:latin typeface="Times New Roman" pitchFamily="18" charset="0"/>
                <a:ea typeface="Calibri" pitchFamily="34" charset="0"/>
                <a:cs typeface="Times New Roman" pitchFamily="18" charset="0"/>
              </a:rPr>
            </a:br>
            <a:r>
              <a:rPr lang="en-US" altLang="en-US" sz="1200" b="1" dirty="0" smtClean="0">
                <a:latin typeface="Calibri" pitchFamily="34" charset="0"/>
                <a:ea typeface="Calibri" pitchFamily="34" charset="0"/>
                <a:cs typeface="Times New Roman" pitchFamily="18" charset="0"/>
              </a:rPr>
              <a:t> Input</a:t>
            </a:r>
            <a:r>
              <a:rPr lang="en-US" altLang="en-US" sz="1200" dirty="0" smtClean="0">
                <a:latin typeface="Calibri" pitchFamily="34" charset="0"/>
                <a:ea typeface="Calibri" pitchFamily="34" charset="0"/>
                <a:cs typeface="Times New Roman" pitchFamily="18" charset="0"/>
              </a:rPr>
              <a:t> : </a:t>
            </a:r>
            <a:r>
              <a:rPr lang="en-US" altLang="en-US" sz="1200" dirty="0" smtClean="0">
                <a:latin typeface="Calibri" pitchFamily="34" charset="0"/>
                <a:ea typeface="Calibri" pitchFamily="34" charset="0"/>
                <a:cs typeface="Times New Roman" pitchFamily="18" charset="0"/>
              </a:rPr>
              <a:t>valid Admin ID and </a:t>
            </a:r>
            <a:r>
              <a:rPr lang="en-US" altLang="en-US" sz="1200" dirty="0" smtClean="0">
                <a:latin typeface="Calibri" pitchFamily="34" charset="0"/>
                <a:ea typeface="Calibri" pitchFamily="34" charset="0"/>
                <a:cs typeface="Times New Roman" pitchFamily="18" charset="0"/>
              </a:rPr>
              <a:t>valid password</a:t>
            </a:r>
            <a:r>
              <a:rPr lang="en-US" altLang="en-US" sz="1200" dirty="0" smtClean="0">
                <a:ea typeface="Calibri" pitchFamily="34" charset="0"/>
                <a:cs typeface="Times New Roman" pitchFamily="18" charset="0"/>
              </a:rPr>
              <a:t/>
            </a:r>
            <a:br>
              <a:rPr lang="en-US" altLang="en-US" sz="1200" dirty="0" smtClean="0">
                <a:ea typeface="Calibri" pitchFamily="34" charset="0"/>
                <a:cs typeface="Times New Roman" pitchFamily="18" charset="0"/>
              </a:rPr>
            </a:br>
            <a:r>
              <a:rPr lang="en-US" altLang="en-US" sz="1200" b="1" dirty="0" smtClean="0">
                <a:latin typeface="Calibri" pitchFamily="34" charset="0"/>
                <a:ea typeface="Calibri" pitchFamily="34" charset="0"/>
                <a:cs typeface="Times New Roman" pitchFamily="18" charset="0"/>
              </a:rPr>
              <a:t>Expected </a:t>
            </a:r>
            <a:r>
              <a:rPr lang="en-US" altLang="en-US" sz="1200" b="1" dirty="0" err="1" smtClean="0">
                <a:latin typeface="Calibri" pitchFamily="34" charset="0"/>
                <a:ea typeface="Calibri" pitchFamily="34" charset="0"/>
                <a:cs typeface="Times New Roman" pitchFamily="18" charset="0"/>
              </a:rPr>
              <a:t>behaviour</a:t>
            </a:r>
            <a:r>
              <a:rPr lang="en-US" altLang="en-US" sz="1200" dirty="0" smtClean="0">
                <a:latin typeface="Calibri" pitchFamily="34" charset="0"/>
                <a:ea typeface="Calibri" pitchFamily="34" charset="0"/>
                <a:cs typeface="Times New Roman" pitchFamily="18" charset="0"/>
              </a:rPr>
              <a:t>: </a:t>
            </a:r>
            <a:r>
              <a:rPr lang="en-US" altLang="en-US" sz="1200" dirty="0" smtClean="0">
                <a:latin typeface="Times New Roman" pitchFamily="18" charset="0"/>
                <a:ea typeface="Calibri" pitchFamily="34" charset="0"/>
                <a:cs typeface="Times New Roman" pitchFamily="18" charset="0"/>
              </a:rPr>
              <a:t>: Successful login </a:t>
            </a:r>
            <a:r>
              <a:rPr lang="en-US" altLang="en-US" sz="1200" dirty="0" smtClean="0">
                <a:latin typeface="Times New Roman" pitchFamily="18" charset="0"/>
                <a:ea typeface="Calibri" pitchFamily="34" charset="0"/>
                <a:cs typeface="Times New Roman" pitchFamily="18" charset="0"/>
              </a:rPr>
              <a:t/>
            </a:r>
            <a:br>
              <a:rPr lang="en-US" altLang="en-US" sz="1200" dirty="0" smtClean="0">
                <a:latin typeface="Times New Roman" pitchFamily="18" charset="0"/>
                <a:ea typeface="Calibri" pitchFamily="34" charset="0"/>
                <a:cs typeface="Times New Roman" pitchFamily="18" charset="0"/>
              </a:rPr>
            </a:br>
            <a:r>
              <a:rPr lang="en-US" altLang="en-US" sz="1200" b="1" dirty="0" smtClean="0">
                <a:latin typeface="Calibri" pitchFamily="34" charset="0"/>
                <a:ea typeface="Calibri" pitchFamily="34" charset="0"/>
                <a:cs typeface="Times New Roman" pitchFamily="18" charset="0"/>
              </a:rPr>
              <a:t>Actual </a:t>
            </a:r>
            <a:r>
              <a:rPr lang="en-US" altLang="en-US" sz="1200" b="1" dirty="0" err="1" smtClean="0">
                <a:latin typeface="Calibri" pitchFamily="34" charset="0"/>
                <a:ea typeface="Calibri" pitchFamily="34" charset="0"/>
                <a:cs typeface="Times New Roman" pitchFamily="18" charset="0"/>
              </a:rPr>
              <a:t>behaviour</a:t>
            </a:r>
            <a:r>
              <a:rPr lang="en-US" altLang="en-US" sz="1200" dirty="0" smtClean="0">
                <a:latin typeface="Calibri" pitchFamily="34" charset="0"/>
                <a:ea typeface="Calibri" pitchFamily="34" charset="0"/>
                <a:cs typeface="Times New Roman" pitchFamily="18" charset="0"/>
              </a:rPr>
              <a:t>: </a:t>
            </a:r>
            <a:r>
              <a:rPr lang="en-US" altLang="en-US" sz="1200" dirty="0" smtClean="0">
                <a:latin typeface="Times New Roman" pitchFamily="18" charset="0"/>
                <a:ea typeface="Calibri" pitchFamily="34" charset="0"/>
                <a:cs typeface="Times New Roman" pitchFamily="18" charset="0"/>
              </a:rPr>
              <a:t>: Successful login </a:t>
            </a:r>
            <a:r>
              <a:rPr lang="en-US" altLang="en-US" sz="1200" dirty="0" smtClean="0">
                <a:ea typeface="Calibri" pitchFamily="34" charset="0"/>
                <a:cs typeface="Times New Roman" pitchFamily="18" charset="0"/>
              </a:rPr>
              <a:t/>
            </a:r>
            <a:br>
              <a:rPr lang="en-US" altLang="en-US" sz="1200" dirty="0" smtClean="0">
                <a:ea typeface="Calibri" pitchFamily="34" charset="0"/>
                <a:cs typeface="Times New Roman" pitchFamily="18" charset="0"/>
              </a:rPr>
            </a:br>
            <a:r>
              <a:rPr lang="en-US" altLang="en-US" sz="1200" b="1" dirty="0" smtClean="0">
                <a:latin typeface="Calibri" pitchFamily="34" charset="0"/>
                <a:ea typeface="Calibri" pitchFamily="34" charset="0"/>
                <a:cs typeface="Times New Roman" pitchFamily="18" charset="0"/>
              </a:rPr>
              <a:t>Status</a:t>
            </a:r>
            <a:r>
              <a:rPr lang="en-US" altLang="en-US" sz="1200" dirty="0" smtClean="0">
                <a:latin typeface="Calibri" pitchFamily="34" charset="0"/>
                <a:ea typeface="Calibri" pitchFamily="34" charset="0"/>
                <a:cs typeface="Times New Roman" pitchFamily="18" charset="0"/>
              </a:rPr>
              <a:t>: Pass</a:t>
            </a:r>
            <a:r>
              <a:rPr lang="en-US" altLang="en-US" sz="1200" b="1" dirty="0" smtClean="0">
                <a:latin typeface="Times New Roman" pitchFamily="18" charset="0"/>
                <a:ea typeface="Calibri" pitchFamily="34" charset="0"/>
                <a:cs typeface="Times New Roman" pitchFamily="18" charset="0"/>
              </a:rPr>
              <a:t> </a:t>
            </a:r>
            <a:r>
              <a:rPr lang="en-US" altLang="en-US" sz="1200" dirty="0">
                <a:ea typeface="Calibri" pitchFamily="34" charset="0"/>
                <a:cs typeface="Times New Roman" pitchFamily="18" charset="0"/>
              </a:rPr>
              <a:t/>
            </a:r>
            <a:br>
              <a:rPr lang="en-US" altLang="en-US" sz="1200" dirty="0">
                <a:ea typeface="Calibri" pitchFamily="34" charset="0"/>
                <a:cs typeface="Times New Roman" pitchFamily="18" charset="0"/>
              </a:rPr>
            </a:br>
            <a:endParaRPr lang="en-IN" sz="1200" dirty="0"/>
          </a:p>
        </p:txBody>
      </p:sp>
      <p:pic>
        <p:nvPicPr>
          <p:cNvPr id="4" name="Content Placeholder 3" descr="Screenshot (191).png"/>
          <p:cNvPicPr>
            <a:picLocks noGrp="1" noChangeAspect="1"/>
          </p:cNvPicPr>
          <p:nvPr>
            <p:ph idx="1"/>
          </p:nvPr>
        </p:nvPicPr>
        <p:blipFill>
          <a:blip r:embed="rId2" cstate="print"/>
          <a:stretch>
            <a:fillRect/>
          </a:stretch>
        </p:blipFill>
        <p:spPr>
          <a:xfrm>
            <a:off x="1134533" y="1600200"/>
            <a:ext cx="9973734" cy="4572000"/>
          </a:xfrm>
        </p:spPr>
      </p:pic>
    </p:spTree>
    <p:extLst>
      <p:ext uri="{BB962C8B-B14F-4D97-AF65-F5344CB8AC3E}">
        <p14:creationId xmlns:p14="http://schemas.microsoft.com/office/powerpoint/2010/main" xmlns="" val="31068252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Output:</a:t>
            </a:r>
            <a:endParaRPr lang="en-US" dirty="0"/>
          </a:p>
        </p:txBody>
      </p:sp>
      <p:pic>
        <p:nvPicPr>
          <p:cNvPr id="4" name="Content Placeholder 3" descr="Screenshot (192).png"/>
          <p:cNvPicPr>
            <a:picLocks noGrp="1" noChangeAspect="1"/>
          </p:cNvPicPr>
          <p:nvPr>
            <p:ph idx="1"/>
          </p:nvPr>
        </p:nvPicPr>
        <p:blipFill>
          <a:blip r:embed="rId2" cstate="print"/>
          <a:stretch>
            <a:fillRect/>
          </a:stretch>
        </p:blipFill>
        <p:spPr>
          <a:xfrm>
            <a:off x="1109133" y="1600200"/>
            <a:ext cx="9999134" cy="4572000"/>
          </a:xfrm>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3EC704-F1F1-4A87-B645-75A7F4C6D678}"/>
              </a:ext>
            </a:extLst>
          </p:cNvPr>
          <p:cNvSpPr>
            <a:spLocks noGrp="1"/>
          </p:cNvSpPr>
          <p:nvPr>
            <p:ph type="title"/>
          </p:nvPr>
        </p:nvSpPr>
        <p:spPr/>
        <p:txBody>
          <a:bodyPr>
            <a:noAutofit/>
          </a:bodyPr>
          <a:lstStyle/>
          <a:p>
            <a:r>
              <a:rPr lang="en-US" altLang="en-US" sz="1200" b="1" dirty="0" smtClean="0">
                <a:latin typeface="Times New Roman" pitchFamily="18" charset="0"/>
                <a:ea typeface="Calibri" pitchFamily="34" charset="0"/>
                <a:cs typeface="Times New Roman" pitchFamily="18" charset="0"/>
              </a:rPr>
              <a:t/>
            </a:r>
            <a:br>
              <a:rPr lang="en-US" altLang="en-US" sz="1200" b="1" dirty="0" smtClean="0">
                <a:latin typeface="Times New Roman" pitchFamily="18" charset="0"/>
                <a:ea typeface="Calibri" pitchFamily="34" charset="0"/>
                <a:cs typeface="Times New Roman" pitchFamily="18" charset="0"/>
              </a:rPr>
            </a:br>
            <a:r>
              <a:rPr lang="en-US" altLang="en-US" sz="1200" b="1" dirty="0" smtClean="0">
                <a:latin typeface="Times New Roman" pitchFamily="18" charset="0"/>
                <a:ea typeface="Calibri" pitchFamily="34" charset="0"/>
                <a:cs typeface="Times New Roman" pitchFamily="18" charset="0"/>
              </a:rPr>
              <a:t/>
            </a:r>
            <a:br>
              <a:rPr lang="en-US" altLang="en-US" sz="1200" b="1" dirty="0" smtClean="0">
                <a:latin typeface="Times New Roman" pitchFamily="18" charset="0"/>
                <a:ea typeface="Calibri" pitchFamily="34" charset="0"/>
                <a:cs typeface="Times New Roman" pitchFamily="18" charset="0"/>
              </a:rPr>
            </a:br>
            <a:r>
              <a:rPr lang="en-US" altLang="en-US" sz="1200" b="1" dirty="0" smtClean="0">
                <a:latin typeface="Times New Roman" pitchFamily="18" charset="0"/>
                <a:ea typeface="Calibri" pitchFamily="34" charset="0"/>
                <a:cs typeface="Times New Roman" pitchFamily="18" charset="0"/>
              </a:rPr>
              <a:t/>
            </a:r>
            <a:br>
              <a:rPr lang="en-US" altLang="en-US" sz="1200" b="1" dirty="0" smtClean="0">
                <a:latin typeface="Times New Roman" pitchFamily="18" charset="0"/>
                <a:ea typeface="Calibri" pitchFamily="34" charset="0"/>
                <a:cs typeface="Times New Roman" pitchFamily="18" charset="0"/>
              </a:rPr>
            </a:br>
            <a:r>
              <a:rPr lang="en-US" altLang="en-US" sz="1200" b="1" dirty="0" smtClean="0">
                <a:latin typeface="Times New Roman" pitchFamily="18" charset="0"/>
                <a:ea typeface="Calibri" pitchFamily="34" charset="0"/>
                <a:cs typeface="Times New Roman" pitchFamily="18" charset="0"/>
              </a:rPr>
              <a:t/>
            </a:r>
            <a:br>
              <a:rPr lang="en-US" altLang="en-US" sz="1200" b="1" dirty="0" smtClean="0">
                <a:latin typeface="Times New Roman" pitchFamily="18" charset="0"/>
                <a:ea typeface="Calibri" pitchFamily="34" charset="0"/>
                <a:cs typeface="Times New Roman" pitchFamily="18" charset="0"/>
              </a:rPr>
            </a:br>
            <a:r>
              <a:rPr lang="en-US" altLang="en-US" sz="1200" b="1" dirty="0" smtClean="0">
                <a:latin typeface="Times New Roman" pitchFamily="18" charset="0"/>
                <a:ea typeface="Calibri" pitchFamily="34" charset="0"/>
                <a:cs typeface="Times New Roman" pitchFamily="18" charset="0"/>
              </a:rPr>
              <a:t/>
            </a:r>
            <a:br>
              <a:rPr lang="en-US" altLang="en-US" sz="1200" b="1" dirty="0" smtClean="0">
                <a:latin typeface="Times New Roman" pitchFamily="18" charset="0"/>
                <a:ea typeface="Calibri" pitchFamily="34" charset="0"/>
                <a:cs typeface="Times New Roman" pitchFamily="18" charset="0"/>
              </a:rPr>
            </a:br>
            <a:r>
              <a:rPr lang="en-US" altLang="en-US" sz="1200" b="1" dirty="0" smtClean="0">
                <a:latin typeface="Times New Roman" pitchFamily="18" charset="0"/>
                <a:ea typeface="Calibri" pitchFamily="34" charset="0"/>
                <a:cs typeface="Times New Roman" pitchFamily="18" charset="0"/>
              </a:rPr>
              <a:t/>
            </a:r>
            <a:br>
              <a:rPr lang="en-US" altLang="en-US" sz="1200" b="1" dirty="0" smtClean="0">
                <a:latin typeface="Times New Roman" pitchFamily="18" charset="0"/>
                <a:ea typeface="Calibri" pitchFamily="34" charset="0"/>
                <a:cs typeface="Times New Roman" pitchFamily="18" charset="0"/>
              </a:rPr>
            </a:br>
            <a:r>
              <a:rPr lang="en-US" altLang="en-US" sz="1200" b="1" dirty="0" smtClean="0">
                <a:latin typeface="Times New Roman" pitchFamily="18" charset="0"/>
                <a:ea typeface="Calibri" pitchFamily="34" charset="0"/>
                <a:cs typeface="Times New Roman" pitchFamily="18" charset="0"/>
              </a:rPr>
              <a:t/>
            </a:r>
            <a:br>
              <a:rPr lang="en-US" altLang="en-US" sz="1200" b="1" dirty="0" smtClean="0">
                <a:latin typeface="Times New Roman" pitchFamily="18" charset="0"/>
                <a:ea typeface="Calibri" pitchFamily="34" charset="0"/>
                <a:cs typeface="Times New Roman" pitchFamily="18" charset="0"/>
              </a:rPr>
            </a:br>
            <a:r>
              <a:rPr lang="en-US" altLang="en-US" sz="1200" b="1" dirty="0" smtClean="0">
                <a:latin typeface="Times New Roman" pitchFamily="18" charset="0"/>
                <a:ea typeface="Calibri" pitchFamily="34" charset="0"/>
                <a:cs typeface="Times New Roman" pitchFamily="18" charset="0"/>
              </a:rPr>
              <a:t>Scenario </a:t>
            </a:r>
            <a:r>
              <a:rPr lang="en-US" altLang="en-US" sz="1200" b="1" dirty="0" smtClean="0">
                <a:latin typeface="Times New Roman" pitchFamily="18" charset="0"/>
                <a:ea typeface="Calibri" pitchFamily="34" charset="0"/>
                <a:cs typeface="Times New Roman" pitchFamily="18" charset="0"/>
              </a:rPr>
              <a:t>2:</a:t>
            </a:r>
            <a:r>
              <a:rPr lang="en-US" altLang="en-US" sz="1200" dirty="0" smtClean="0">
                <a:ea typeface="Calibri" pitchFamily="34" charset="0"/>
                <a:cs typeface="Times New Roman" pitchFamily="18" charset="0"/>
              </a:rPr>
              <a:t/>
            </a:r>
            <a:br>
              <a:rPr lang="en-US" altLang="en-US" sz="1200" dirty="0" smtClean="0">
                <a:ea typeface="Calibri" pitchFamily="34" charset="0"/>
                <a:cs typeface="Times New Roman" pitchFamily="18" charset="0"/>
              </a:rPr>
            </a:br>
            <a:r>
              <a:rPr lang="en-US" altLang="en-US" sz="1200" b="1" dirty="0" smtClean="0">
                <a:latin typeface="Calibri" pitchFamily="34" charset="0"/>
                <a:ea typeface="Calibri" pitchFamily="34" charset="0"/>
                <a:cs typeface="Times New Roman" pitchFamily="18" charset="0"/>
              </a:rPr>
              <a:t>Input</a:t>
            </a:r>
            <a:r>
              <a:rPr lang="en-US" altLang="en-US" sz="1200" dirty="0" smtClean="0">
                <a:latin typeface="Calibri" pitchFamily="34" charset="0"/>
                <a:ea typeface="Calibri" pitchFamily="34" charset="0"/>
                <a:cs typeface="Times New Roman" pitchFamily="18" charset="0"/>
              </a:rPr>
              <a:t> : Invalid </a:t>
            </a:r>
            <a:r>
              <a:rPr lang="en-US" altLang="en-US" sz="1200" b="1" dirty="0" smtClean="0">
                <a:latin typeface="Calibri" pitchFamily="34" charset="0"/>
                <a:cs typeface="Times New Roman" pitchFamily="18" charset="0"/>
              </a:rPr>
              <a:t>Admin ID</a:t>
            </a:r>
            <a:r>
              <a:rPr lang="en-US" altLang="en-US" sz="1200" dirty="0" smtClean="0">
                <a:latin typeface="Calibri" pitchFamily="34" charset="0"/>
                <a:ea typeface="Calibri" pitchFamily="34" charset="0"/>
                <a:cs typeface="Times New Roman" pitchFamily="18" charset="0"/>
              </a:rPr>
              <a:t> and valid password</a:t>
            </a:r>
            <a:r>
              <a:rPr lang="en-US" altLang="en-US" sz="1200" dirty="0" smtClean="0">
                <a:ea typeface="Calibri" pitchFamily="34" charset="0"/>
                <a:cs typeface="Times New Roman" pitchFamily="18" charset="0"/>
              </a:rPr>
              <a:t/>
            </a:r>
            <a:br>
              <a:rPr lang="en-US" altLang="en-US" sz="1200" dirty="0" smtClean="0">
                <a:ea typeface="Calibri" pitchFamily="34" charset="0"/>
                <a:cs typeface="Times New Roman" pitchFamily="18" charset="0"/>
              </a:rPr>
            </a:br>
            <a:r>
              <a:rPr lang="en-US" altLang="en-US" sz="1200" b="1" dirty="0" smtClean="0">
                <a:latin typeface="Calibri" pitchFamily="34" charset="0"/>
                <a:ea typeface="Calibri" pitchFamily="34" charset="0"/>
                <a:cs typeface="Times New Roman" pitchFamily="18" charset="0"/>
              </a:rPr>
              <a:t>Expected </a:t>
            </a:r>
            <a:r>
              <a:rPr lang="en-US" altLang="en-US" sz="1200" b="1" dirty="0" err="1" smtClean="0">
                <a:latin typeface="Calibri" pitchFamily="34" charset="0"/>
                <a:ea typeface="Calibri" pitchFamily="34" charset="0"/>
                <a:cs typeface="Times New Roman" pitchFamily="18" charset="0"/>
              </a:rPr>
              <a:t>behaviour</a:t>
            </a:r>
            <a:r>
              <a:rPr lang="en-US" altLang="en-US" sz="1200" dirty="0" smtClean="0">
                <a:latin typeface="Calibri" pitchFamily="34" charset="0"/>
                <a:ea typeface="Calibri" pitchFamily="34" charset="0"/>
                <a:cs typeface="Times New Roman" pitchFamily="18" charset="0"/>
              </a:rPr>
              <a:t>: Please  enter valid</a:t>
            </a:r>
            <a:r>
              <a:rPr lang="en-US" altLang="en-US" sz="1200" b="1" dirty="0" smtClean="0">
                <a:latin typeface="Calibri" pitchFamily="34" charset="0"/>
                <a:cs typeface="Times New Roman" pitchFamily="18" charset="0"/>
              </a:rPr>
              <a:t> Admin ID  </a:t>
            </a:r>
            <a:br>
              <a:rPr lang="en-US" altLang="en-US" sz="1200" b="1" dirty="0" smtClean="0">
                <a:latin typeface="Calibri" pitchFamily="34" charset="0"/>
                <a:cs typeface="Times New Roman" pitchFamily="18" charset="0"/>
              </a:rPr>
            </a:br>
            <a:r>
              <a:rPr lang="en-US" altLang="en-US" sz="1200" b="1" dirty="0" smtClean="0">
                <a:latin typeface="Calibri" pitchFamily="34" charset="0"/>
                <a:ea typeface="Calibri" pitchFamily="34" charset="0"/>
                <a:cs typeface="Times New Roman" pitchFamily="18" charset="0"/>
              </a:rPr>
              <a:t>Actual </a:t>
            </a:r>
            <a:r>
              <a:rPr lang="en-US" altLang="en-US" sz="1200" b="1" dirty="0" err="1" smtClean="0">
                <a:latin typeface="Calibri" pitchFamily="34" charset="0"/>
                <a:ea typeface="Calibri" pitchFamily="34" charset="0"/>
                <a:cs typeface="Times New Roman" pitchFamily="18" charset="0"/>
              </a:rPr>
              <a:t>behaviour</a:t>
            </a:r>
            <a:r>
              <a:rPr lang="en-US" altLang="en-US" sz="1200" dirty="0" smtClean="0">
                <a:latin typeface="Calibri" pitchFamily="34" charset="0"/>
                <a:ea typeface="Calibri" pitchFamily="34" charset="0"/>
                <a:cs typeface="Times New Roman" pitchFamily="18" charset="0"/>
              </a:rPr>
              <a:t>: Enter valid </a:t>
            </a:r>
            <a:r>
              <a:rPr lang="en-US" altLang="en-US" sz="1200" b="1" dirty="0" smtClean="0">
                <a:latin typeface="Calibri" pitchFamily="34" charset="0"/>
                <a:cs typeface="Times New Roman" pitchFamily="18" charset="0"/>
              </a:rPr>
              <a:t>Admin ID </a:t>
            </a:r>
            <a:r>
              <a:rPr lang="en-US" altLang="en-US" sz="1200" dirty="0" smtClean="0">
                <a:ea typeface="Calibri" pitchFamily="34" charset="0"/>
                <a:cs typeface="Times New Roman" pitchFamily="18" charset="0"/>
              </a:rPr>
              <a:t/>
            </a:r>
            <a:br>
              <a:rPr lang="en-US" altLang="en-US" sz="1200" dirty="0" smtClean="0">
                <a:ea typeface="Calibri" pitchFamily="34" charset="0"/>
                <a:cs typeface="Times New Roman" pitchFamily="18" charset="0"/>
              </a:rPr>
            </a:br>
            <a:r>
              <a:rPr lang="en-US" altLang="en-US" sz="1200" b="1" dirty="0" smtClean="0">
                <a:latin typeface="Calibri" pitchFamily="34" charset="0"/>
                <a:ea typeface="Calibri" pitchFamily="34" charset="0"/>
                <a:cs typeface="Times New Roman" pitchFamily="18" charset="0"/>
              </a:rPr>
              <a:t>Status</a:t>
            </a:r>
            <a:r>
              <a:rPr lang="en-US" altLang="en-US" sz="1200" dirty="0" smtClean="0">
                <a:latin typeface="Calibri" pitchFamily="34" charset="0"/>
                <a:ea typeface="Calibri" pitchFamily="34" charset="0"/>
                <a:cs typeface="Times New Roman" pitchFamily="18" charset="0"/>
              </a:rPr>
              <a:t>: Pass </a:t>
            </a:r>
            <a:endParaRPr lang="en-IN" sz="1200" dirty="0"/>
          </a:p>
        </p:txBody>
      </p:sp>
      <p:pic>
        <p:nvPicPr>
          <p:cNvPr id="4" name="Content Placeholder 3" descr="Screenshot (193).png"/>
          <p:cNvPicPr>
            <a:picLocks noGrp="1" noChangeAspect="1"/>
          </p:cNvPicPr>
          <p:nvPr>
            <p:ph idx="1"/>
          </p:nvPr>
        </p:nvPicPr>
        <p:blipFill>
          <a:blip r:embed="rId2" cstate="print"/>
          <a:stretch>
            <a:fillRect/>
          </a:stretch>
        </p:blipFill>
        <p:spPr>
          <a:xfrm>
            <a:off x="1126067" y="1600200"/>
            <a:ext cx="9999133" cy="4572000"/>
          </a:xfrm>
        </p:spPr>
      </p:pic>
    </p:spTree>
    <p:extLst>
      <p:ext uri="{BB962C8B-B14F-4D97-AF65-F5344CB8AC3E}">
        <p14:creationId xmlns:p14="http://schemas.microsoft.com/office/powerpoint/2010/main" xmlns="" val="119279492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1200" b="1" dirty="0" smtClean="0">
                <a:latin typeface="Calibri" pitchFamily="34" charset="0"/>
                <a:cs typeface="Times New Roman" pitchFamily="18" charset="0"/>
              </a:rPr>
              <a:t>Scenario 3 : valid Admin ID </a:t>
            </a:r>
            <a:r>
              <a:rPr lang="en-US" altLang="en-US" sz="1200" b="1" dirty="0" smtClean="0">
                <a:latin typeface="Calibri" pitchFamily="34" charset="0"/>
                <a:cs typeface="Times New Roman" pitchFamily="18" charset="0"/>
              </a:rPr>
              <a:t>and </a:t>
            </a:r>
            <a:r>
              <a:rPr lang="en-US" altLang="en-US" sz="1200" b="1" dirty="0" smtClean="0">
                <a:latin typeface="Calibri" pitchFamily="34" charset="0"/>
                <a:cs typeface="Times New Roman" pitchFamily="18" charset="0"/>
              </a:rPr>
              <a:t>invalid password</a:t>
            </a:r>
            <a:r>
              <a:rPr lang="en-US" altLang="en-US" sz="1200" dirty="0" smtClean="0"/>
              <a:t/>
            </a:r>
            <a:br>
              <a:rPr lang="en-US" altLang="en-US" sz="1200" dirty="0" smtClean="0"/>
            </a:br>
            <a:r>
              <a:rPr lang="en-US" altLang="en-US" sz="1200" b="1" dirty="0" smtClean="0">
                <a:latin typeface="Calibri" pitchFamily="34" charset="0"/>
                <a:cs typeface="Times New Roman" pitchFamily="18" charset="0"/>
              </a:rPr>
              <a:t>Input</a:t>
            </a:r>
            <a:r>
              <a:rPr lang="en-US" altLang="en-US" sz="1200" dirty="0" smtClean="0">
                <a:latin typeface="Calibri" pitchFamily="34" charset="0"/>
                <a:cs typeface="Times New Roman" pitchFamily="18" charset="0"/>
              </a:rPr>
              <a:t>: valid </a:t>
            </a:r>
            <a:r>
              <a:rPr lang="en-US" altLang="en-US" sz="1200" b="1" dirty="0" smtClean="0">
                <a:latin typeface="Calibri" pitchFamily="34" charset="0"/>
                <a:cs typeface="Times New Roman" pitchFamily="18" charset="0"/>
              </a:rPr>
              <a:t>Admin ID </a:t>
            </a:r>
            <a:r>
              <a:rPr lang="en-US" altLang="en-US" sz="1200" dirty="0" smtClean="0">
                <a:latin typeface="Calibri" pitchFamily="34" charset="0"/>
                <a:cs typeface="Times New Roman" pitchFamily="18" charset="0"/>
              </a:rPr>
              <a:t>and </a:t>
            </a:r>
            <a:r>
              <a:rPr lang="en-US" altLang="en-US" sz="1200" dirty="0" smtClean="0">
                <a:latin typeface="Calibri" pitchFamily="34" charset="0"/>
                <a:cs typeface="Times New Roman" pitchFamily="18" charset="0"/>
              </a:rPr>
              <a:t>invalid password</a:t>
            </a:r>
            <a:r>
              <a:rPr lang="en-US" altLang="en-US" sz="1200" dirty="0" smtClean="0"/>
              <a:t/>
            </a:r>
            <a:br>
              <a:rPr lang="en-US" altLang="en-US" sz="1200" dirty="0" smtClean="0"/>
            </a:br>
            <a:r>
              <a:rPr lang="en-US" altLang="en-US" sz="1200" b="1" dirty="0" smtClean="0">
                <a:latin typeface="Calibri" pitchFamily="34" charset="0"/>
                <a:cs typeface="Times New Roman" pitchFamily="18" charset="0"/>
              </a:rPr>
              <a:t>Expected </a:t>
            </a:r>
            <a:r>
              <a:rPr lang="en-US" altLang="en-US" sz="1200" b="1" dirty="0" err="1" smtClean="0">
                <a:latin typeface="Calibri" pitchFamily="34" charset="0"/>
                <a:cs typeface="Times New Roman" pitchFamily="18" charset="0"/>
              </a:rPr>
              <a:t>behaviour</a:t>
            </a:r>
            <a:r>
              <a:rPr lang="en-US" altLang="en-US" sz="1200" dirty="0" smtClean="0">
                <a:latin typeface="Calibri" pitchFamily="34" charset="0"/>
                <a:cs typeface="Times New Roman" pitchFamily="18" charset="0"/>
              </a:rPr>
              <a:t> : Please enter valid password</a:t>
            </a:r>
            <a:r>
              <a:rPr lang="en-US" altLang="en-US" sz="1200" dirty="0" smtClean="0"/>
              <a:t/>
            </a:r>
            <a:br>
              <a:rPr lang="en-US" altLang="en-US" sz="1200" dirty="0" smtClean="0"/>
            </a:br>
            <a:r>
              <a:rPr lang="en-US" altLang="en-US" sz="1200" b="1" dirty="0" smtClean="0">
                <a:latin typeface="Calibri" pitchFamily="34" charset="0"/>
                <a:cs typeface="Times New Roman" pitchFamily="18" charset="0"/>
              </a:rPr>
              <a:t>Actual </a:t>
            </a:r>
            <a:r>
              <a:rPr lang="en-US" altLang="en-US" sz="1200" b="1" dirty="0" err="1" smtClean="0">
                <a:latin typeface="Calibri" pitchFamily="34" charset="0"/>
                <a:cs typeface="Times New Roman" pitchFamily="18" charset="0"/>
              </a:rPr>
              <a:t>behaviour</a:t>
            </a:r>
            <a:r>
              <a:rPr lang="en-US" altLang="en-US" sz="1200" dirty="0" smtClean="0">
                <a:latin typeface="Calibri" pitchFamily="34" charset="0"/>
                <a:cs typeface="Times New Roman" pitchFamily="18" charset="0"/>
              </a:rPr>
              <a:t>: Enter valid password</a:t>
            </a:r>
            <a:r>
              <a:rPr lang="en-US" altLang="en-US" sz="1200" dirty="0" smtClean="0"/>
              <a:t/>
            </a:r>
            <a:br>
              <a:rPr lang="en-US" altLang="en-US" sz="1200" dirty="0" smtClean="0"/>
            </a:br>
            <a:r>
              <a:rPr lang="en-US" altLang="en-US" sz="1200" b="1" dirty="0" smtClean="0">
                <a:latin typeface="Calibri" pitchFamily="34" charset="0"/>
                <a:cs typeface="Times New Roman" pitchFamily="18" charset="0"/>
              </a:rPr>
              <a:t>Status</a:t>
            </a:r>
            <a:r>
              <a:rPr lang="en-US" altLang="en-US" sz="1200" dirty="0" smtClean="0">
                <a:latin typeface="Calibri" pitchFamily="34" charset="0"/>
                <a:cs typeface="Times New Roman" pitchFamily="18" charset="0"/>
              </a:rPr>
              <a:t> : Pass</a:t>
            </a:r>
            <a:r>
              <a:rPr lang="en-US" altLang="en-US" sz="1200" dirty="0" smtClean="0"/>
              <a:t/>
            </a:r>
            <a:br>
              <a:rPr lang="en-US" altLang="en-US" sz="1200" dirty="0" smtClean="0"/>
            </a:br>
            <a:r>
              <a:rPr lang="en-US" sz="1200" dirty="0" smtClean="0"/>
              <a:t>:</a:t>
            </a:r>
            <a:endParaRPr lang="en-US" sz="1200" dirty="0"/>
          </a:p>
        </p:txBody>
      </p:sp>
      <p:pic>
        <p:nvPicPr>
          <p:cNvPr id="4" name="Content Placeholder 3" descr="Screenshot (194).png"/>
          <p:cNvPicPr>
            <a:picLocks noGrp="1" noChangeAspect="1"/>
          </p:cNvPicPr>
          <p:nvPr>
            <p:ph idx="1"/>
          </p:nvPr>
        </p:nvPicPr>
        <p:blipFill>
          <a:blip r:embed="rId2" cstate="print"/>
          <a:stretch>
            <a:fillRect/>
          </a:stretch>
        </p:blipFill>
        <p:spPr>
          <a:xfrm>
            <a:off x="1227667" y="1600200"/>
            <a:ext cx="9838266" cy="4572000"/>
          </a:xfrm>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1200" b="1" dirty="0" smtClean="0">
                <a:latin typeface="Calibri" pitchFamily="34" charset="0"/>
                <a:cs typeface="Times New Roman" pitchFamily="18" charset="0"/>
              </a:rPr>
              <a:t>Scenario 4 : invalid </a:t>
            </a:r>
            <a:r>
              <a:rPr lang="en-US" altLang="en-US" sz="1200" b="1" dirty="0" smtClean="0">
                <a:latin typeface="Calibri" pitchFamily="34" charset="0"/>
                <a:cs typeface="Times New Roman" pitchFamily="18" charset="0"/>
              </a:rPr>
              <a:t>Admin ID and </a:t>
            </a:r>
            <a:r>
              <a:rPr lang="en-US" altLang="en-US" sz="1200" b="1" dirty="0" smtClean="0">
                <a:latin typeface="Calibri" pitchFamily="34" charset="0"/>
                <a:cs typeface="Times New Roman" pitchFamily="18" charset="0"/>
              </a:rPr>
              <a:t>password</a:t>
            </a:r>
            <a:r>
              <a:rPr lang="en-US" altLang="en-US" sz="1200" dirty="0" smtClean="0"/>
              <a:t/>
            </a:r>
            <a:br>
              <a:rPr lang="en-US" altLang="en-US" sz="1200" dirty="0" smtClean="0"/>
            </a:br>
            <a:r>
              <a:rPr lang="en-US" altLang="en-US" sz="1200" b="1" dirty="0" smtClean="0">
                <a:latin typeface="Calibri" pitchFamily="34" charset="0"/>
                <a:cs typeface="Times New Roman" pitchFamily="18" charset="0"/>
              </a:rPr>
              <a:t>Input</a:t>
            </a:r>
            <a:r>
              <a:rPr lang="en-US" altLang="en-US" sz="1200" dirty="0" smtClean="0">
                <a:latin typeface="Calibri" pitchFamily="34" charset="0"/>
                <a:cs typeface="Times New Roman" pitchFamily="18" charset="0"/>
              </a:rPr>
              <a:t> : invalid </a:t>
            </a:r>
            <a:r>
              <a:rPr lang="en-US" altLang="en-US" sz="1200" dirty="0" smtClean="0">
                <a:latin typeface="Calibri" pitchFamily="34" charset="0"/>
                <a:cs typeface="Times New Roman" pitchFamily="18" charset="0"/>
              </a:rPr>
              <a:t>Admin ID and </a:t>
            </a:r>
            <a:r>
              <a:rPr lang="en-US" altLang="en-US" sz="1200" dirty="0" smtClean="0">
                <a:latin typeface="Calibri" pitchFamily="34" charset="0"/>
                <a:cs typeface="Times New Roman" pitchFamily="18" charset="0"/>
              </a:rPr>
              <a:t>password</a:t>
            </a:r>
            <a:r>
              <a:rPr lang="en-US" altLang="en-US" sz="1200" dirty="0" smtClean="0"/>
              <a:t/>
            </a:r>
            <a:br>
              <a:rPr lang="en-US" altLang="en-US" sz="1200" dirty="0" smtClean="0"/>
            </a:br>
            <a:r>
              <a:rPr lang="en-US" altLang="en-US" sz="1200" b="1" dirty="0" smtClean="0">
                <a:latin typeface="Calibri" pitchFamily="34" charset="0"/>
                <a:cs typeface="Times New Roman" pitchFamily="18" charset="0"/>
              </a:rPr>
              <a:t>Expected </a:t>
            </a:r>
            <a:r>
              <a:rPr lang="en-US" altLang="en-US" sz="1200" b="1" dirty="0" err="1" smtClean="0">
                <a:latin typeface="Calibri" pitchFamily="34" charset="0"/>
                <a:cs typeface="Times New Roman" pitchFamily="18" charset="0"/>
              </a:rPr>
              <a:t>behaviour</a:t>
            </a:r>
            <a:r>
              <a:rPr lang="en-US" altLang="en-US" sz="1200" dirty="0" smtClean="0">
                <a:latin typeface="Calibri" pitchFamily="34" charset="0"/>
                <a:cs typeface="Times New Roman" pitchFamily="18" charset="0"/>
              </a:rPr>
              <a:t> : Please enter valid </a:t>
            </a:r>
            <a:r>
              <a:rPr lang="en-US" altLang="en-US" sz="1200" b="1" dirty="0" smtClean="0">
                <a:latin typeface="Calibri" pitchFamily="34" charset="0"/>
                <a:cs typeface="Times New Roman" pitchFamily="18" charset="0"/>
              </a:rPr>
              <a:t>Admin ID</a:t>
            </a:r>
            <a:r>
              <a:rPr lang="en-US" altLang="en-US" sz="1200" dirty="0" smtClean="0">
                <a:latin typeface="Calibri" pitchFamily="34" charset="0"/>
                <a:cs typeface="Times New Roman" pitchFamily="18" charset="0"/>
              </a:rPr>
              <a:t> </a:t>
            </a:r>
            <a:r>
              <a:rPr lang="en-US" altLang="en-US" sz="1200" dirty="0" smtClean="0">
                <a:latin typeface="Calibri" pitchFamily="34" charset="0"/>
                <a:cs typeface="Times New Roman" pitchFamily="18" charset="0"/>
              </a:rPr>
              <a:t>and password</a:t>
            </a:r>
            <a:r>
              <a:rPr lang="en-US" altLang="en-US" sz="1200" dirty="0" smtClean="0"/>
              <a:t/>
            </a:r>
            <a:br>
              <a:rPr lang="en-US" altLang="en-US" sz="1200" dirty="0" smtClean="0"/>
            </a:br>
            <a:r>
              <a:rPr lang="en-US" altLang="en-US" sz="1200" b="1" dirty="0" smtClean="0">
                <a:latin typeface="Calibri" pitchFamily="34" charset="0"/>
                <a:cs typeface="Times New Roman" pitchFamily="18" charset="0"/>
              </a:rPr>
              <a:t>Actual </a:t>
            </a:r>
            <a:r>
              <a:rPr lang="en-US" altLang="en-US" sz="1200" b="1" dirty="0" err="1" smtClean="0">
                <a:latin typeface="Calibri" pitchFamily="34" charset="0"/>
                <a:cs typeface="Times New Roman" pitchFamily="18" charset="0"/>
              </a:rPr>
              <a:t>behaviour</a:t>
            </a:r>
            <a:r>
              <a:rPr lang="en-US" altLang="en-US" sz="1200" dirty="0" smtClean="0">
                <a:latin typeface="Calibri" pitchFamily="34" charset="0"/>
                <a:cs typeface="Times New Roman" pitchFamily="18" charset="0"/>
              </a:rPr>
              <a:t>: Please enter valid </a:t>
            </a:r>
            <a:r>
              <a:rPr lang="en-US" altLang="en-US" sz="1200" b="1" dirty="0" smtClean="0">
                <a:latin typeface="Calibri" pitchFamily="34" charset="0"/>
                <a:cs typeface="Times New Roman" pitchFamily="18" charset="0"/>
              </a:rPr>
              <a:t>Admin ID</a:t>
            </a:r>
            <a:r>
              <a:rPr lang="en-US" altLang="en-US" sz="1200" dirty="0" smtClean="0">
                <a:latin typeface="Calibri" pitchFamily="34" charset="0"/>
                <a:cs typeface="Times New Roman" pitchFamily="18" charset="0"/>
              </a:rPr>
              <a:t> </a:t>
            </a:r>
            <a:r>
              <a:rPr lang="en-US" altLang="en-US" sz="1200" dirty="0" smtClean="0">
                <a:latin typeface="Calibri" pitchFamily="34" charset="0"/>
                <a:cs typeface="Times New Roman" pitchFamily="18" charset="0"/>
              </a:rPr>
              <a:t>and password</a:t>
            </a:r>
            <a:r>
              <a:rPr lang="en-US" altLang="en-US" sz="1200" dirty="0" smtClean="0"/>
              <a:t/>
            </a:r>
            <a:br>
              <a:rPr lang="en-US" altLang="en-US" sz="1200" dirty="0" smtClean="0"/>
            </a:br>
            <a:r>
              <a:rPr lang="en-US" altLang="en-US" sz="1200" b="1" dirty="0" smtClean="0">
                <a:latin typeface="Calibri" pitchFamily="34" charset="0"/>
                <a:cs typeface="Times New Roman" pitchFamily="18" charset="0"/>
              </a:rPr>
              <a:t>Status</a:t>
            </a:r>
            <a:r>
              <a:rPr lang="en-US" altLang="en-US" sz="1200" dirty="0" smtClean="0">
                <a:latin typeface="Calibri" pitchFamily="34" charset="0"/>
                <a:cs typeface="Times New Roman" pitchFamily="18" charset="0"/>
              </a:rPr>
              <a:t>: pass</a:t>
            </a:r>
            <a:endParaRPr lang="en-US" sz="1200" dirty="0"/>
          </a:p>
        </p:txBody>
      </p:sp>
      <p:pic>
        <p:nvPicPr>
          <p:cNvPr id="4" name="Content Placeholder 3" descr="Screenshot (195).png"/>
          <p:cNvPicPr>
            <a:picLocks noGrp="1" noChangeAspect="1"/>
          </p:cNvPicPr>
          <p:nvPr>
            <p:ph idx="1"/>
          </p:nvPr>
        </p:nvPicPr>
        <p:blipFill>
          <a:blip r:embed="rId2" cstate="print"/>
          <a:stretch>
            <a:fillRect/>
          </a:stretch>
        </p:blipFill>
        <p:spPr>
          <a:xfrm>
            <a:off x="1193799" y="1600200"/>
            <a:ext cx="9889067" cy="4572000"/>
          </a:xfrm>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9FCF7B-318E-4134-94FB-5420D059C092}"/>
              </a:ext>
            </a:extLst>
          </p:cNvPr>
          <p:cNvSpPr>
            <a:spLocks noGrp="1"/>
          </p:cNvSpPr>
          <p:nvPr>
            <p:ph type="title"/>
          </p:nvPr>
        </p:nvSpPr>
        <p:spPr/>
        <p:txBody>
          <a:bodyPr/>
          <a:lstStyle/>
          <a:p>
            <a:r>
              <a:rPr lang="en-US" b="1" u="sng" dirty="0"/>
              <a:t>Conclusion</a:t>
            </a:r>
            <a:r>
              <a:rPr lang="en-US" dirty="0"/>
              <a:t>:</a:t>
            </a:r>
            <a:endParaRPr lang="en-IN" dirty="0"/>
          </a:p>
        </p:txBody>
      </p:sp>
      <p:sp>
        <p:nvSpPr>
          <p:cNvPr id="3" name="Content Placeholder 2">
            <a:extLst>
              <a:ext uri="{FF2B5EF4-FFF2-40B4-BE49-F238E27FC236}">
                <a16:creationId xmlns:a16="http://schemas.microsoft.com/office/drawing/2014/main" xmlns="" id="{C8624B5A-0AA3-4B22-885B-CAFC4BD6A029}"/>
              </a:ext>
            </a:extLst>
          </p:cNvPr>
          <p:cNvSpPr>
            <a:spLocks noGrp="1"/>
          </p:cNvSpPr>
          <p:nvPr>
            <p:ph idx="1"/>
          </p:nvPr>
        </p:nvSpPr>
        <p:spPr/>
        <p:txBody>
          <a:bodyPr>
            <a:normAutofit/>
          </a:bodyPr>
          <a:lstStyle/>
          <a:p>
            <a:r>
              <a:rPr lang="en-IN" sz="3200" dirty="0" smtClean="0">
                <a:latin typeface="Times New Roman" pitchFamily="18" charset="0"/>
                <a:cs typeface="Times New Roman" pitchFamily="18" charset="0"/>
              </a:rPr>
              <a:t>The Cold Storage Management System </a:t>
            </a:r>
            <a:r>
              <a:rPr lang="en-IN" sz="3200" dirty="0" smtClean="0">
                <a:latin typeface="Times New Roman" pitchFamily="18" charset="0"/>
                <a:cs typeface="Times New Roman" pitchFamily="18" charset="0"/>
              </a:rPr>
              <a:t>is a web based application in which customer can easily can get his profile and invoice and Admin(Manager) can maintain all details of products ,customer and payments.</a:t>
            </a:r>
          </a:p>
          <a:p>
            <a:r>
              <a:rPr lang="en-IN" sz="3200" dirty="0" smtClean="0">
                <a:latin typeface="Times New Roman" pitchFamily="18" charset="0"/>
                <a:cs typeface="Times New Roman" pitchFamily="18" charset="0"/>
              </a:rPr>
              <a:t>This application can reduce paper work </a:t>
            </a:r>
          </a:p>
          <a:p>
            <a:endParaRPr lang="en-IN" sz="3200" dirty="0" smtClean="0">
              <a:latin typeface="Times New Roman" pitchFamily="18" charset="0"/>
              <a:cs typeface="Times New Roman" pitchFamily="18" charset="0"/>
            </a:endParaRPr>
          </a:p>
          <a:p>
            <a:endParaRPr lang="en-IN" sz="3200" dirty="0">
              <a:latin typeface="Times New Roman" pitchFamily="18" charset="0"/>
              <a:cs typeface="Times New Roman" pitchFamily="18" charset="0"/>
            </a:endParaRPr>
          </a:p>
        </p:txBody>
      </p:sp>
    </p:spTree>
    <p:extLst>
      <p:ext uri="{BB962C8B-B14F-4D97-AF65-F5344CB8AC3E}">
        <p14:creationId xmlns:p14="http://schemas.microsoft.com/office/powerpoint/2010/main" xmlns="" val="174200246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18ACBE-A2D0-456B-B62C-FBE425B033BC}"/>
              </a:ext>
            </a:extLst>
          </p:cNvPr>
          <p:cNvSpPr>
            <a:spLocks noGrp="1"/>
          </p:cNvSpPr>
          <p:nvPr>
            <p:ph type="title"/>
          </p:nvPr>
        </p:nvSpPr>
        <p:spPr/>
        <p:txBody>
          <a:bodyPr/>
          <a:lstStyle/>
          <a:p>
            <a:endParaRPr lang="en-IN" dirty="0"/>
          </a:p>
        </p:txBody>
      </p:sp>
      <p:pic>
        <p:nvPicPr>
          <p:cNvPr id="1026" name="Picture 2" descr="Genevieve Geres | ASM-AETNA Blog">
            <a:extLst>
              <a:ext uri="{FF2B5EF4-FFF2-40B4-BE49-F238E27FC236}">
                <a16:creationId xmlns:a16="http://schemas.microsoft.com/office/drawing/2014/main" xmlns="" id="{83334AAA-5755-49FA-93FB-B3E875746E46}"/>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266" y="687915"/>
            <a:ext cx="10024534" cy="554445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8030772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xmlns=""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608</TotalTime>
  <Words>1337</Words>
  <Application>Microsoft Office PowerPoint</Application>
  <PresentationFormat>Custom</PresentationFormat>
  <Paragraphs>438</Paragraphs>
  <Slides>54</Slides>
  <Notes>1</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Academic Literature 16x9</vt:lpstr>
      <vt:lpstr>  Cold Storage Management System</vt:lpstr>
      <vt:lpstr>ABSTRACT:</vt:lpstr>
      <vt:lpstr>    EXISTING SYSTEM:</vt:lpstr>
      <vt:lpstr>   PROPOSED SYSTEM:    PROPOSED SYSTEM:                              PROPOSED SYSTEM: </vt:lpstr>
      <vt:lpstr>          HARDWARE AND SOFTWARE REQUIREMENTS </vt:lpstr>
      <vt:lpstr>Modules</vt:lpstr>
      <vt:lpstr>Admin Module:</vt:lpstr>
      <vt:lpstr>Customer Module:</vt:lpstr>
      <vt:lpstr>Slide 9</vt:lpstr>
      <vt:lpstr>Customer Details table:</vt:lpstr>
      <vt:lpstr>Admin Login Details table:</vt:lpstr>
      <vt:lpstr>Customer Login Details table:</vt:lpstr>
      <vt:lpstr>Inward Products Details table:</vt:lpstr>
      <vt:lpstr>Outward Products Details table:</vt:lpstr>
      <vt:lpstr>Payment Details table:</vt:lpstr>
      <vt:lpstr>Invoice details:</vt:lpstr>
      <vt:lpstr>Customer Loan details:</vt:lpstr>
      <vt:lpstr>Slide 18</vt:lpstr>
      <vt:lpstr>Home Page:</vt:lpstr>
      <vt:lpstr>About Page</vt:lpstr>
      <vt:lpstr>Contact Page:</vt:lpstr>
      <vt:lpstr>Customer Login:</vt:lpstr>
      <vt:lpstr>New Customer Registration Form:</vt:lpstr>
      <vt:lpstr>Completion of Customer Registration :</vt:lpstr>
      <vt:lpstr>Admin Login: </vt:lpstr>
      <vt:lpstr>Admin Navigation:</vt:lpstr>
      <vt:lpstr>Customers Entry Form:</vt:lpstr>
      <vt:lpstr>Customer Details</vt:lpstr>
      <vt:lpstr>Inward Products Entry Form:</vt:lpstr>
      <vt:lpstr>Inward Products Details:</vt:lpstr>
      <vt:lpstr>Outward Products Entry Form:</vt:lpstr>
      <vt:lpstr>Outward Products Details:</vt:lpstr>
      <vt:lpstr>Payment Information Entry Form:</vt:lpstr>
      <vt:lpstr>Payment Details:</vt:lpstr>
      <vt:lpstr>Customer Loan Information Entry Form:</vt:lpstr>
      <vt:lpstr>Customer Loan Details:</vt:lpstr>
      <vt:lpstr>Admin work Summary</vt:lpstr>
      <vt:lpstr>ER Diagram</vt:lpstr>
      <vt:lpstr>Use Case Diagram</vt:lpstr>
      <vt:lpstr>Class Diagram</vt:lpstr>
      <vt:lpstr>Slide 41</vt:lpstr>
      <vt:lpstr>Slide 42</vt:lpstr>
      <vt:lpstr>                      Testcase 1: Customer login Scenario 1: Input : valid Customer name and password Expected behaviour : Successful login Actual behaviour: Successful login Status:Pass</vt:lpstr>
      <vt:lpstr>Output:</vt:lpstr>
      <vt:lpstr>Scenario 2: Input : Invalid username and valid password Expected behaviour: Please  enter valid username Actual behaviour: Enter valid username Status: Pass </vt:lpstr>
      <vt:lpstr>Scenario 3 : valid username and invalid password Input: valid username and invalid password Expected behaviour : Please enter valid password Actual behaviour: Enter valid password Status : Pass :</vt:lpstr>
      <vt:lpstr>Scenario 4 : invalid username and password Input : invalid username and password Expected behaviour : Please enter valid username and password Actual behaviour: Please enter valid username and password Status: pass  </vt:lpstr>
      <vt:lpstr>Testcase 2: Admin login  Scenario 1:   Input : valid Admin ID and valid password Expected behaviour: : Successful login  Actual behaviour: : Successful login  Status: Pass  </vt:lpstr>
      <vt:lpstr>Output:</vt:lpstr>
      <vt:lpstr>       Scenario 2: Input : Invalid Admin ID and valid password Expected behaviour: Please  enter valid Admin ID   Actual behaviour: Enter valid Admin ID  Status: Pass </vt:lpstr>
      <vt:lpstr>Scenario 3 : valid Admin ID and invalid password Input: valid Admin ID and invalid password Expected behaviour : Please enter valid password Actual behaviour: Enter valid password Status : Pass :</vt:lpstr>
      <vt:lpstr>Scenario 4 : invalid Admin ID and password Input : invalid Admin ID and password Expected behaviour : Please enter valid Admin ID and password Actual behaviour: Please enter valid Admin ID and password Status: pass</vt:lpstr>
      <vt:lpstr>Conclusion:</vt:lpstr>
      <vt:lpstr>Slide 54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Cold Storage Management System</dc:title>
  <dc:creator>Sai Kumar Mamidala</dc:creator>
  <cp:lastModifiedBy>sai kumar</cp:lastModifiedBy>
  <cp:revision>31</cp:revision>
  <dcterms:created xsi:type="dcterms:W3CDTF">2021-01-27T12:43:46Z</dcterms:created>
  <dcterms:modified xsi:type="dcterms:W3CDTF">2021-01-28T06:16:57Z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